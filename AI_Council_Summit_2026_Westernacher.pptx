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hyperlink" Target="https://bindx-consulting.github.io/westernacher-ai-desk/wepulse.html" TargetMode="External"/><Relationship Id="rId3" Type="http://schemas.openxmlformats.org/officeDocument/2006/relationships/hyperlink" Target="https://bindx-consulting.github.io/westernacher-ai-desk/wepulse.html" TargetMode="External"/><Relationship Id="rId1" Type="http://schemas.openxmlformats.org/officeDocument/2006/relationships/image" Target="../media/image-8-1.png"/><Relationship Id="rId4" Type="http://schemas.openxmlformats.org/officeDocument/2006/relationships/image" Target="../media/image-8-2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hyperlink" Target="https://bindx-consulting.github.io/westernacher-ai-desk/westernacher_ai_desk.html" TargetMode="External"/><Relationship Id="rId3" Type="http://schemas.openxmlformats.org/officeDocument/2006/relationships/hyperlink" Target="https://bindx-consulting.github.io/westernacher-ai-desk/westernacher_ai_desk.html" TargetMode="External"/><Relationship Id="rId1" Type="http://schemas.openxmlformats.org/officeDocument/2006/relationships/image" Target="../media/image-9-1.png"/><Relationship Id="rId4" Type="http://schemas.openxmlformats.org/officeDocument/2006/relationships/image" Target="../media/image-9-2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64592"/>
            <a:ext cx="1691640" cy="18288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594360"/>
            <a:ext cx="1097280" cy="0"/>
          </a:xfrm>
          <a:prstGeom prst="line">
            <a:avLst/>
          </a:prstGeom>
          <a:noFill/>
          <a:ln w="25400">
            <a:solidFill>
              <a:srgbClr val="93CCEA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411480" y="1005840"/>
            <a:ext cx="8229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AI Council</a:t>
            </a:r>
            <a:pPr indent="0" marL="0">
              <a:buNone/>
            </a:pPr>
            <a:r>
              <a:rPr lang="en-US" sz="7200" b="1" dirty="0">
                <a:solidFill>
                  <a:srgbClr val="93CCE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.</a:t>
            </a:r>
            <a:endParaRPr lang="en-US" sz="7200" dirty="0"/>
          </a:p>
        </p:txBody>
      </p:sp>
      <p:sp>
        <p:nvSpPr>
          <p:cNvPr id="5" name="Text 2"/>
          <p:cNvSpPr/>
          <p:nvPr/>
        </p:nvSpPr>
        <p:spPr>
          <a:xfrm>
            <a:off x="411480" y="265176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Regional Summit  2026</a:t>
            </a:r>
            <a:endParaRPr lang="en-US" sz="2000" dirty="0"/>
          </a:p>
        </p:txBody>
      </p:sp>
      <p:sp>
        <p:nvSpPr>
          <p:cNvPr id="6" name="Text 3"/>
          <p:cNvSpPr/>
          <p:nvPr/>
        </p:nvSpPr>
        <p:spPr>
          <a:xfrm>
            <a:off x="411480" y="3200400"/>
            <a:ext cx="6400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curiosity to consulting multiplier.</a:t>
            </a:r>
            <a:endParaRPr lang="en-US" sz="2200" dirty="0"/>
          </a:p>
        </p:txBody>
      </p:sp>
      <p:sp>
        <p:nvSpPr>
          <p:cNvPr id="7" name="Text 4"/>
          <p:cNvSpPr/>
          <p:nvPr/>
        </p:nvSpPr>
        <p:spPr>
          <a:xfrm>
            <a:off x="5943600" y="466344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8A8A"/>
                </a:solidFill>
              </a:rPr>
              <a:t>India  ·  Middle East  ·  Asia Pacific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0" y="4983480"/>
            <a:ext cx="9144000" cy="0"/>
          </a:xfrm>
          <a:prstGeom prst="line">
            <a:avLst/>
          </a:prstGeom>
          <a:noFill/>
          <a:ln w="38100">
            <a:solidFill>
              <a:srgbClr val="93CCEA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64592"/>
            <a:ext cx="1691640" cy="18288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594360"/>
            <a:ext cx="1097280" cy="0"/>
          </a:xfrm>
          <a:prstGeom prst="line">
            <a:avLst/>
          </a:prstGeom>
          <a:noFill/>
          <a:ln w="25400">
            <a:solidFill>
              <a:srgbClr val="93CCEA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411480" y="777240"/>
            <a:ext cx="7315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30 Minutes. Three Acts</a:t>
            </a:r>
            <a:pPr indent="0" marL="0">
              <a:buNone/>
            </a:pPr>
            <a:r>
              <a:rPr lang="en-US" sz="4200" b="1" dirty="0">
                <a:solidFill>
                  <a:srgbClr val="93CCE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.</a:t>
            </a:r>
            <a:endParaRPr lang="en-US" sz="4200" dirty="0"/>
          </a:p>
        </p:txBody>
      </p:sp>
      <p:sp>
        <p:nvSpPr>
          <p:cNvPr id="5" name="Shape 2"/>
          <p:cNvSpPr/>
          <p:nvPr/>
        </p:nvSpPr>
        <p:spPr>
          <a:xfrm>
            <a:off x="411480" y="1828800"/>
            <a:ext cx="2697480" cy="2834640"/>
          </a:xfrm>
          <a:prstGeom prst="rect">
            <a:avLst/>
          </a:prstGeom>
          <a:solidFill>
            <a:srgbClr val="0A0A0A"/>
          </a:solidFill>
          <a:ln/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594360" y="1965960"/>
            <a:ext cx="1371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01</a:t>
            </a:r>
            <a:pPr indent="0" marL="0">
              <a:buNone/>
            </a:pPr>
            <a:r>
              <a:rPr lang="en-US" sz="3200" b="1" dirty="0">
                <a:solidFill>
                  <a:srgbClr val="93CCE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.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594360" y="265176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Strategy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594360" y="3182112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Mission, model &amp; what 2026 is really about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594360" y="4224528"/>
            <a:ext cx="868680" cy="256032"/>
          </a:xfrm>
          <a:prstGeom prst="rect">
            <a:avLst/>
          </a:prstGeom>
          <a:solidFill>
            <a:srgbClr val="93CCEA"/>
          </a:solidFill>
          <a:ln/>
        </p:spPr>
      </p:sp>
      <p:sp>
        <p:nvSpPr>
          <p:cNvPr id="10" name="Text 7"/>
          <p:cNvSpPr/>
          <p:nvPr/>
        </p:nvSpPr>
        <p:spPr>
          <a:xfrm>
            <a:off x="594360" y="4224528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~8 min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3291840" y="1828800"/>
            <a:ext cx="2697480" cy="2834640"/>
          </a:xfrm>
          <a:prstGeom prst="rect">
            <a:avLst/>
          </a:prstGeom>
          <a:solidFill>
            <a:srgbClr val="F7F7F7"/>
          </a:solidFill>
          <a:ln/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3474720" y="1965960"/>
            <a:ext cx="1371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02</a:t>
            </a:r>
            <a:pPr indent="0" marL="0">
              <a:buNone/>
            </a:pPr>
            <a:r>
              <a:rPr lang="en-US" sz="3200" b="1" dirty="0">
                <a:solidFill>
                  <a:srgbClr val="93CCE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.</a:t>
            </a:r>
            <a:endParaRPr lang="en-US" sz="3200" dirty="0"/>
          </a:p>
        </p:txBody>
      </p:sp>
      <p:sp>
        <p:nvSpPr>
          <p:cNvPr id="13" name="Text 10"/>
          <p:cNvSpPr/>
          <p:nvPr/>
        </p:nvSpPr>
        <p:spPr>
          <a:xfrm>
            <a:off x="3474720" y="265176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Demo #1</a:t>
            </a:r>
            <a:endParaRPr lang="en-US" sz="2000" dirty="0"/>
          </a:p>
        </p:txBody>
      </p:sp>
      <p:sp>
        <p:nvSpPr>
          <p:cNvPr id="14" name="Text 11"/>
          <p:cNvSpPr/>
          <p:nvPr/>
        </p:nvSpPr>
        <p:spPr>
          <a:xfrm>
            <a:off x="3474720" y="3182112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tool built by our team — watch it work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3474720" y="4224528"/>
            <a:ext cx="868680" cy="256032"/>
          </a:xfrm>
          <a:prstGeom prst="rect">
            <a:avLst/>
          </a:prstGeom>
          <a:solidFill>
            <a:srgbClr val="E8E8E8"/>
          </a:solidFill>
          <a:ln/>
        </p:spPr>
      </p:sp>
      <p:sp>
        <p:nvSpPr>
          <p:cNvPr id="16" name="Text 13"/>
          <p:cNvSpPr/>
          <p:nvPr/>
        </p:nvSpPr>
        <p:spPr>
          <a:xfrm>
            <a:off x="3474720" y="4224528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3A3A"/>
                </a:solidFill>
              </a:rPr>
              <a:t>~8 min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6172200" y="1828800"/>
            <a:ext cx="2697480" cy="2834640"/>
          </a:xfrm>
          <a:prstGeom prst="rect">
            <a:avLst/>
          </a:prstGeom>
          <a:solidFill>
            <a:srgbClr val="F7F7F7"/>
          </a:solidFill>
          <a:ln/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18" name="Text 15"/>
          <p:cNvSpPr/>
          <p:nvPr/>
        </p:nvSpPr>
        <p:spPr>
          <a:xfrm>
            <a:off x="6355080" y="1965960"/>
            <a:ext cx="1371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03</a:t>
            </a:r>
            <a:pPr indent="0" marL="0">
              <a:buNone/>
            </a:pPr>
            <a:r>
              <a:rPr lang="en-US" sz="3200" b="1" dirty="0">
                <a:solidFill>
                  <a:srgbClr val="93CCE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.</a:t>
            </a:r>
            <a:endParaRPr lang="en-US" sz="3200" dirty="0"/>
          </a:p>
        </p:txBody>
      </p:sp>
      <p:sp>
        <p:nvSpPr>
          <p:cNvPr id="19" name="Text 16"/>
          <p:cNvSpPr/>
          <p:nvPr/>
        </p:nvSpPr>
        <p:spPr>
          <a:xfrm>
            <a:off x="6355080" y="265176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Demo #2</a:t>
            </a:r>
            <a:endParaRPr lang="en-US" sz="2000" dirty="0"/>
          </a:p>
        </p:txBody>
      </p:sp>
      <p:sp>
        <p:nvSpPr>
          <p:cNvPr id="20" name="Text 17"/>
          <p:cNvSpPr/>
          <p:nvPr/>
        </p:nvSpPr>
        <p:spPr>
          <a:xfrm>
            <a:off x="6355080" y="3182112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Second prototype — different use case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6355080" y="4224528"/>
            <a:ext cx="868680" cy="256032"/>
          </a:xfrm>
          <a:prstGeom prst="rect">
            <a:avLst/>
          </a:prstGeom>
          <a:solidFill>
            <a:srgbClr val="E8E8E8"/>
          </a:solidFill>
          <a:ln/>
        </p:spPr>
      </p:sp>
      <p:sp>
        <p:nvSpPr>
          <p:cNvPr id="22" name="Text 19"/>
          <p:cNvSpPr/>
          <p:nvPr/>
        </p:nvSpPr>
        <p:spPr>
          <a:xfrm>
            <a:off x="6355080" y="4224528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3A3A"/>
                </a:solidFill>
              </a:rPr>
              <a:t>~8 min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411480" y="477316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A8A8A"/>
                </a:solidFill>
              </a:rPr>
              <a:t>Plus: what we need from you before we close.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64592"/>
            <a:ext cx="1691640" cy="18288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594360"/>
            <a:ext cx="1097280" cy="0"/>
          </a:xfrm>
          <a:prstGeom prst="line">
            <a:avLst/>
          </a:prstGeom>
          <a:noFill/>
          <a:ln w="25400">
            <a:solidFill>
              <a:srgbClr val="93CCEA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411480" y="822960"/>
            <a:ext cx="50292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moment</a:t>
            </a:r>
            <a:endParaRPr lang="en-US" sz="5200" dirty="0"/>
          </a:p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we're in</a:t>
            </a:r>
            <a:endParaRPr lang="en-US" sz="5200" dirty="0"/>
          </a:p>
        </p:txBody>
      </p:sp>
      <p:sp>
        <p:nvSpPr>
          <p:cNvPr id="5" name="Text 2"/>
          <p:cNvSpPr/>
          <p:nvPr/>
        </p:nvSpPr>
        <p:spPr>
          <a:xfrm>
            <a:off x="411480" y="2606040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won't replace consultants.</a:t>
            </a:r>
            <a:endParaRPr lang="en-US" sz="2200" dirty="0"/>
          </a:p>
        </p:txBody>
      </p:sp>
      <p:sp>
        <p:nvSpPr>
          <p:cNvPr id="6" name="Text 3"/>
          <p:cNvSpPr/>
          <p:nvPr/>
        </p:nvSpPr>
        <p:spPr>
          <a:xfrm>
            <a:off x="411480" y="3200400"/>
            <a:ext cx="5212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93CC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Consultants using AI will replace those who don't</a:t>
            </a:r>
            <a:pPr indent="0" marL="0">
              <a:buNone/>
            </a:pPr>
            <a:r>
              <a:rPr lang="en-US" sz="2200" i="1" dirty="0">
                <a:solidFill>
                  <a:srgbClr val="93CC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2200" dirty="0"/>
          </a:p>
        </p:txBody>
      </p:sp>
      <p:sp>
        <p:nvSpPr>
          <p:cNvPr id="7" name="Shape 4"/>
          <p:cNvSpPr/>
          <p:nvPr/>
        </p:nvSpPr>
        <p:spPr>
          <a:xfrm>
            <a:off x="5760720" y="731520"/>
            <a:ext cx="0" cy="4023360"/>
          </a:xfrm>
          <a:prstGeom prst="line">
            <a:avLst/>
          </a:prstGeom>
          <a:noFill/>
          <a:ln w="12700">
            <a:solidFill>
              <a:srgbClr val="3A3A3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035040" y="914400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Individual tinkering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035040" y="1316736"/>
            <a:ext cx="731520" cy="0"/>
          </a:xfrm>
          <a:prstGeom prst="line">
            <a:avLst/>
          </a:prstGeom>
          <a:noFill/>
          <a:ln w="25400">
            <a:solidFill>
              <a:srgbClr val="93CCE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035040" y="146304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tools &amp; reuse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6035040" y="2286000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Large AI visions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035040" y="2688336"/>
            <a:ext cx="731520" cy="0"/>
          </a:xfrm>
          <a:prstGeom prst="line">
            <a:avLst/>
          </a:prstGeom>
          <a:noFill/>
          <a:ln w="25400">
            <a:solidFill>
              <a:srgbClr val="93CCE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035040" y="283464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Small, repeatable wins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6035040" y="3657600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Someone will figure it out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6035040" y="4059936"/>
            <a:ext cx="731520" cy="0"/>
          </a:xfrm>
          <a:prstGeom prst="line">
            <a:avLst/>
          </a:prstGeom>
          <a:noFill/>
          <a:ln w="25400">
            <a:solidFill>
              <a:srgbClr val="93CCEA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035040" y="420624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play with it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411480" y="4645152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8A8A8A"/>
                </a:solidFill>
              </a:rPr>
              <a:t>Our job: make Westernacher the firm that leads this shift.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64592"/>
            <a:ext cx="1691640" cy="18288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594360"/>
            <a:ext cx="1097280" cy="0"/>
          </a:xfrm>
          <a:prstGeom prst="line">
            <a:avLst/>
          </a:prstGeom>
          <a:noFill/>
          <a:ln w="25400">
            <a:solidFill>
              <a:srgbClr val="93CCEA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411480" y="777240"/>
            <a:ext cx="7315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AI Council</a:t>
            </a:r>
            <a:pPr indent="0" marL="0">
              <a:buNone/>
            </a:pPr>
            <a:r>
              <a:rPr lang="en-US" sz="4000" b="1" dirty="0">
                <a:solidFill>
                  <a:srgbClr val="93CCE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.</a:t>
            </a:r>
            <a:endParaRPr lang="en-US" sz="4000" dirty="0"/>
          </a:p>
        </p:txBody>
      </p:sp>
      <p:sp>
        <p:nvSpPr>
          <p:cNvPr id="5" name="Text 2"/>
          <p:cNvSpPr/>
          <p:nvPr/>
        </p:nvSpPr>
        <p:spPr>
          <a:xfrm>
            <a:off x="411480" y="150876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it is. What it isn't.</a:t>
            </a:r>
            <a:endParaRPr lang="en-US" sz="1800" dirty="0"/>
          </a:p>
        </p:txBody>
      </p:sp>
      <p:sp>
        <p:nvSpPr>
          <p:cNvPr id="6" name="Shape 3"/>
          <p:cNvSpPr/>
          <p:nvPr/>
        </p:nvSpPr>
        <p:spPr>
          <a:xfrm>
            <a:off x="411480" y="2057400"/>
            <a:ext cx="8321040" cy="658368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7" name="Shape 4"/>
          <p:cNvSpPr/>
          <p:nvPr/>
        </p:nvSpPr>
        <p:spPr>
          <a:xfrm>
            <a:off x="411480" y="2057400"/>
            <a:ext cx="54864" cy="658368"/>
          </a:xfrm>
          <a:prstGeom prst="rect">
            <a:avLst/>
          </a:prstGeom>
          <a:solidFill>
            <a:srgbClr val="93CCEA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2103120"/>
            <a:ext cx="7955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Mission: Deliver measurable profitability and operational improvements using AI — aligned to Westernacher's SAP + Supply Chain + Process strengths.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411480" y="2926080"/>
            <a:ext cx="2697480" cy="1920240"/>
          </a:xfrm>
          <a:prstGeom prst="rect">
            <a:avLst/>
          </a:prstGeom>
          <a:solidFill>
            <a:srgbClr val="0A0A0A"/>
          </a:solidFill>
          <a:ln/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" y="3063240"/>
            <a:ext cx="329184" cy="329184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612648" y="3493008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Revenue Factory</a:t>
            </a:r>
            <a:endParaRPr lang="en-US" sz="1500" dirty="0"/>
          </a:p>
        </p:txBody>
      </p:sp>
      <p:sp>
        <p:nvSpPr>
          <p:cNvPr id="12" name="Text 8"/>
          <p:cNvSpPr/>
          <p:nvPr/>
        </p:nvSpPr>
        <p:spPr>
          <a:xfrm>
            <a:off x="612648" y="393192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Sellable offers, paid pilots,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pipeline velocity.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free PoCs.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3291840" y="2926080"/>
            <a:ext cx="2697480" cy="1920240"/>
          </a:xfrm>
          <a:prstGeom prst="rect">
            <a:avLst/>
          </a:prstGeom>
          <a:solidFill>
            <a:srgbClr val="F7F7F7"/>
          </a:solidFill>
          <a:ln/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93008" y="3063240"/>
            <a:ext cx="329184" cy="329184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3493008" y="3493008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Delivery Factory</a:t>
            </a:r>
            <a:endParaRPr lang="en-US" sz="1500" dirty="0"/>
          </a:p>
        </p:txBody>
      </p:sp>
      <p:sp>
        <p:nvSpPr>
          <p:cNvPr id="16" name="Text 11"/>
          <p:cNvSpPr/>
          <p:nvPr/>
        </p:nvSpPr>
        <p:spPr>
          <a:xfrm>
            <a:off x="3493008" y="393192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Internal accelerators, reuse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assets, delivery playbooks.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Fewer hours, better outcomes.</a:t>
            </a:r>
            <a:endParaRPr lang="en-US" sz="1100" dirty="0"/>
          </a:p>
        </p:txBody>
      </p:sp>
      <p:sp>
        <p:nvSpPr>
          <p:cNvPr id="17" name="Shape 12"/>
          <p:cNvSpPr/>
          <p:nvPr/>
        </p:nvSpPr>
        <p:spPr>
          <a:xfrm>
            <a:off x="6172200" y="2926080"/>
            <a:ext cx="2697480" cy="1920240"/>
          </a:xfrm>
          <a:prstGeom prst="rect">
            <a:avLst/>
          </a:prstGeom>
          <a:solidFill>
            <a:srgbClr val="F7F7F7"/>
          </a:solidFill>
          <a:ln/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73368" y="3063240"/>
            <a:ext cx="329184" cy="329184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6373368" y="3493008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Allies Network</a:t>
            </a:r>
            <a:endParaRPr lang="en-US" sz="1500" dirty="0"/>
          </a:p>
        </p:txBody>
      </p:sp>
      <p:sp>
        <p:nvSpPr>
          <p:cNvPr id="20" name="Text 14"/>
          <p:cNvSpPr/>
          <p:nvPr/>
        </p:nvSpPr>
        <p:spPr>
          <a:xfrm>
            <a:off x="6373368" y="393192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Cross-org community.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Funnels real use cases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into both factories.</a:t>
            </a:r>
            <a:endParaRPr lang="en-US" sz="1100" dirty="0"/>
          </a:p>
        </p:txBody>
      </p:sp>
      <p:sp>
        <p:nvSpPr>
          <p:cNvPr id="21" name="Text 15"/>
          <p:cNvSpPr/>
          <p:nvPr/>
        </p:nvSpPr>
        <p:spPr>
          <a:xfrm>
            <a:off x="411480" y="4846320"/>
            <a:ext cx="8321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6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Rule: If AI does not improve revenue, margin, or speed — we stop it.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64592"/>
            <a:ext cx="1691640" cy="18288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594360"/>
            <a:ext cx="1097280" cy="0"/>
          </a:xfrm>
          <a:prstGeom prst="line">
            <a:avLst/>
          </a:prstGeom>
          <a:noFill/>
          <a:ln w="25400">
            <a:solidFill>
              <a:srgbClr val="93CCEA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411480" y="77724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2026 Roadmap</a:t>
            </a:r>
            <a:pPr indent="0" marL="0">
              <a:buNone/>
            </a:pPr>
            <a:r>
              <a:rPr lang="en-US" sz="4000" b="1" dirty="0">
                <a:solidFill>
                  <a:srgbClr val="93CCE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.</a:t>
            </a:r>
            <a:endParaRPr lang="en-US" sz="4000" dirty="0"/>
          </a:p>
        </p:txBody>
      </p:sp>
      <p:sp>
        <p:nvSpPr>
          <p:cNvPr id="5" name="Text 2"/>
          <p:cNvSpPr/>
          <p:nvPr/>
        </p:nvSpPr>
        <p:spPr>
          <a:xfrm>
            <a:off x="411480" y="1463040"/>
            <a:ext cx="7315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 →  Monetize  →  Scale  →  Standardize.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685800" y="2487168"/>
            <a:ext cx="7772400" cy="0"/>
          </a:xfrm>
          <a:prstGeom prst="line">
            <a:avLst/>
          </a:prstGeom>
          <a:noFill/>
          <a:ln w="25400">
            <a:solidFill>
              <a:srgbClr val="E8E8E8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069848" y="2258568"/>
            <a:ext cx="457200" cy="457200"/>
          </a:xfrm>
          <a:prstGeom prst="ellipse">
            <a:avLst/>
          </a:prstGeom>
          <a:solidFill>
            <a:srgbClr val="93CCEA"/>
          </a:solidFill>
          <a:ln/>
        </p:spPr>
      </p:sp>
      <p:sp>
        <p:nvSpPr>
          <p:cNvPr id="8" name="Text 5"/>
          <p:cNvSpPr/>
          <p:nvPr/>
        </p:nvSpPr>
        <p:spPr>
          <a:xfrm>
            <a:off x="1069848" y="22585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Q1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502920" y="2788920"/>
            <a:ext cx="2011680" cy="2103120"/>
          </a:xfrm>
          <a:prstGeom prst="rect">
            <a:avLst/>
          </a:prstGeom>
          <a:solidFill>
            <a:srgbClr val="0A0A0A"/>
          </a:solidFill>
          <a:ln/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502920" y="2788920"/>
            <a:ext cx="2011680" cy="45720"/>
          </a:xfrm>
          <a:prstGeom prst="rect">
            <a:avLst/>
          </a:prstGeom>
          <a:solidFill>
            <a:srgbClr val="93CCEA"/>
          </a:solidFill>
          <a:ln/>
        </p:spPr>
      </p:sp>
      <p:sp>
        <p:nvSpPr>
          <p:cNvPr id="11" name="Text 8"/>
          <p:cNvSpPr/>
          <p:nvPr/>
        </p:nvSpPr>
        <p:spPr>
          <a:xfrm>
            <a:off x="640080" y="2907792"/>
            <a:ext cx="1783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Foundation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640080" y="3337560"/>
            <a:ext cx="18105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3CC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</a:t>
            </a:r>
            <a:pPr indent="0" marL="0">
              <a:buNone/>
            </a:pPr>
            <a:r>
              <a:rPr lang="en-US" sz="105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literacy rollout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640080" y="3703320"/>
            <a:ext cx="18105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3CC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</a:t>
            </a:r>
            <a:pPr indent="0" marL="0">
              <a:buNone/>
            </a:pPr>
            <a:r>
              <a:rPr lang="en-US" sz="105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Proposal Accelerator v1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640080" y="4069080"/>
            <a:ext cx="18105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3CC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</a:t>
            </a:r>
            <a:pPr indent="0" marL="0">
              <a:buNone/>
            </a:pPr>
            <a:r>
              <a:rPr lang="en-US" sz="105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demos ready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640080" y="4434840"/>
            <a:ext cx="18105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3CC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</a:t>
            </a:r>
            <a:pPr indent="0" marL="0">
              <a:buNone/>
            </a:pPr>
            <a:r>
              <a:rPr lang="en-US" sz="105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accounts briefed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3218688" y="2258568"/>
            <a:ext cx="457200" cy="457200"/>
          </a:xfrm>
          <a:prstGeom prst="ellipse">
            <a:avLst/>
          </a:prstGeom>
          <a:solidFill>
            <a:srgbClr val="E8E8E8"/>
          </a:solidFill>
          <a:ln/>
        </p:spPr>
      </p:sp>
      <p:sp>
        <p:nvSpPr>
          <p:cNvPr id="17" name="Text 14"/>
          <p:cNvSpPr/>
          <p:nvPr/>
        </p:nvSpPr>
        <p:spPr>
          <a:xfrm>
            <a:off x="3218688" y="22585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Q2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2651760" y="2788920"/>
            <a:ext cx="2011680" cy="2103120"/>
          </a:xfrm>
          <a:prstGeom prst="rect">
            <a:avLst/>
          </a:prstGeom>
          <a:solidFill>
            <a:srgbClr val="F7F7F7"/>
          </a:solidFill>
          <a:ln/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19" name="Text 16"/>
          <p:cNvSpPr/>
          <p:nvPr/>
        </p:nvSpPr>
        <p:spPr>
          <a:xfrm>
            <a:off x="2788920" y="2907792"/>
            <a:ext cx="1783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Monetize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2788920" y="3337560"/>
            <a:ext cx="18105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3CC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</a:t>
            </a:r>
            <a:pPr indent="0" marL="0">
              <a:buNone/>
            </a:pPr>
            <a:r>
              <a:rPr lang="en-US" sz="105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AI Value Sprints</a:t>
            </a:r>
            <a:endParaRPr lang="en-US" sz="1050" dirty="0"/>
          </a:p>
        </p:txBody>
      </p:sp>
      <p:sp>
        <p:nvSpPr>
          <p:cNvPr id="21" name="Text 18"/>
          <p:cNvSpPr/>
          <p:nvPr/>
        </p:nvSpPr>
        <p:spPr>
          <a:xfrm>
            <a:off x="2788920" y="3703320"/>
            <a:ext cx="18105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3CC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</a:t>
            </a:r>
            <a:pPr indent="0" marL="0">
              <a:buNone/>
            </a:pPr>
            <a:r>
              <a:rPr lang="en-US" sz="105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paid pilots signed</a:t>
            </a:r>
            <a:endParaRPr lang="en-US" sz="1050" dirty="0"/>
          </a:p>
        </p:txBody>
      </p:sp>
      <p:sp>
        <p:nvSpPr>
          <p:cNvPr id="22" name="Text 19"/>
          <p:cNvSpPr/>
          <p:nvPr/>
        </p:nvSpPr>
        <p:spPr>
          <a:xfrm>
            <a:off x="2788920" y="4069080"/>
            <a:ext cx="18105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3CC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</a:t>
            </a:r>
            <a:pPr indent="0" marL="0">
              <a:buNone/>
            </a:pPr>
            <a:r>
              <a:rPr lang="en-US" sz="105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Reusable Asset Library</a:t>
            </a:r>
            <a:endParaRPr lang="en-US" sz="1050" dirty="0"/>
          </a:p>
        </p:txBody>
      </p:sp>
      <p:sp>
        <p:nvSpPr>
          <p:cNvPr id="23" name="Shape 20"/>
          <p:cNvSpPr/>
          <p:nvPr/>
        </p:nvSpPr>
        <p:spPr>
          <a:xfrm>
            <a:off x="5367528" y="2258568"/>
            <a:ext cx="457200" cy="457200"/>
          </a:xfrm>
          <a:prstGeom prst="ellipse">
            <a:avLst/>
          </a:prstGeom>
          <a:solidFill>
            <a:srgbClr val="E8E8E8"/>
          </a:solidFill>
          <a:ln/>
        </p:spPr>
      </p:sp>
      <p:sp>
        <p:nvSpPr>
          <p:cNvPr id="24" name="Text 21"/>
          <p:cNvSpPr/>
          <p:nvPr/>
        </p:nvSpPr>
        <p:spPr>
          <a:xfrm>
            <a:off x="5367528" y="22585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Q3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800600" y="2788920"/>
            <a:ext cx="2011680" cy="2103120"/>
          </a:xfrm>
          <a:prstGeom prst="rect">
            <a:avLst/>
          </a:prstGeom>
          <a:solidFill>
            <a:srgbClr val="F7F7F7"/>
          </a:solidFill>
          <a:ln/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26" name="Text 23"/>
          <p:cNvSpPr/>
          <p:nvPr/>
        </p:nvSpPr>
        <p:spPr>
          <a:xfrm>
            <a:off x="4937760" y="2907792"/>
            <a:ext cx="1783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Scale</a:t>
            </a:r>
            <a:endParaRPr lang="en-US" sz="1400" dirty="0"/>
          </a:p>
        </p:txBody>
      </p:sp>
      <p:sp>
        <p:nvSpPr>
          <p:cNvPr id="27" name="Text 24"/>
          <p:cNvSpPr/>
          <p:nvPr/>
        </p:nvSpPr>
        <p:spPr>
          <a:xfrm>
            <a:off x="4937760" y="3337560"/>
            <a:ext cx="18105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3CC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</a:t>
            </a:r>
            <a:pPr indent="0" marL="0">
              <a:buNone/>
            </a:pPr>
            <a:r>
              <a:rPr lang="en-US" sz="105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Productize top 2 wins</a:t>
            </a:r>
            <a:endParaRPr lang="en-US" sz="1050" dirty="0"/>
          </a:p>
        </p:txBody>
      </p:sp>
      <p:sp>
        <p:nvSpPr>
          <p:cNvPr id="28" name="Text 25"/>
          <p:cNvSpPr/>
          <p:nvPr/>
        </p:nvSpPr>
        <p:spPr>
          <a:xfrm>
            <a:off x="4937760" y="3703320"/>
            <a:ext cx="18105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3CC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</a:t>
            </a:r>
            <a:pPr indent="0" marL="0">
              <a:buNone/>
            </a:pPr>
            <a:r>
              <a:rPr lang="en-US" sz="105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Reference kits</a:t>
            </a:r>
            <a:endParaRPr lang="en-US" sz="1050" dirty="0"/>
          </a:p>
        </p:txBody>
      </p:sp>
      <p:sp>
        <p:nvSpPr>
          <p:cNvPr id="29" name="Text 26"/>
          <p:cNvSpPr/>
          <p:nvPr/>
        </p:nvSpPr>
        <p:spPr>
          <a:xfrm>
            <a:off x="4937760" y="4069080"/>
            <a:ext cx="18105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3CC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</a:t>
            </a:r>
            <a:pPr indent="0" marL="0">
              <a:buNone/>
            </a:pPr>
            <a:r>
              <a:rPr lang="en-US" sz="105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Time-to-Value packages</a:t>
            </a:r>
            <a:endParaRPr lang="en-US" sz="1050" dirty="0"/>
          </a:p>
        </p:txBody>
      </p:sp>
      <p:sp>
        <p:nvSpPr>
          <p:cNvPr id="30" name="Shape 27"/>
          <p:cNvSpPr/>
          <p:nvPr/>
        </p:nvSpPr>
        <p:spPr>
          <a:xfrm>
            <a:off x="7516368" y="2258568"/>
            <a:ext cx="457200" cy="457200"/>
          </a:xfrm>
          <a:prstGeom prst="ellipse">
            <a:avLst/>
          </a:prstGeom>
          <a:solidFill>
            <a:srgbClr val="E8E8E8"/>
          </a:solidFill>
          <a:ln/>
        </p:spPr>
      </p:sp>
      <p:sp>
        <p:nvSpPr>
          <p:cNvPr id="31" name="Text 28"/>
          <p:cNvSpPr/>
          <p:nvPr/>
        </p:nvSpPr>
        <p:spPr>
          <a:xfrm>
            <a:off x="7516368" y="22585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Q4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6949440" y="2788920"/>
            <a:ext cx="2011680" cy="2103120"/>
          </a:xfrm>
          <a:prstGeom prst="rect">
            <a:avLst/>
          </a:prstGeom>
          <a:solidFill>
            <a:srgbClr val="F7F7F7"/>
          </a:solidFill>
          <a:ln/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33" name="Text 30"/>
          <p:cNvSpPr/>
          <p:nvPr/>
        </p:nvSpPr>
        <p:spPr>
          <a:xfrm>
            <a:off x="7086600" y="2907792"/>
            <a:ext cx="1783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Standardize</a:t>
            </a:r>
            <a:endParaRPr lang="en-US" sz="1400" dirty="0"/>
          </a:p>
        </p:txBody>
      </p:sp>
      <p:sp>
        <p:nvSpPr>
          <p:cNvPr id="34" name="Text 31"/>
          <p:cNvSpPr/>
          <p:nvPr/>
        </p:nvSpPr>
        <p:spPr>
          <a:xfrm>
            <a:off x="7086600" y="3337560"/>
            <a:ext cx="18105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3CC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</a:t>
            </a:r>
            <a:pPr indent="0" marL="0">
              <a:buNone/>
            </a:pPr>
            <a:r>
              <a:rPr lang="en-US" sz="105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Governance v1</a:t>
            </a:r>
            <a:endParaRPr lang="en-US" sz="1050" dirty="0"/>
          </a:p>
        </p:txBody>
      </p:sp>
      <p:sp>
        <p:nvSpPr>
          <p:cNvPr id="35" name="Text 32"/>
          <p:cNvSpPr/>
          <p:nvPr/>
        </p:nvSpPr>
        <p:spPr>
          <a:xfrm>
            <a:off x="7086600" y="3703320"/>
            <a:ext cx="18105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3CC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</a:t>
            </a:r>
            <a:pPr indent="0" marL="0">
              <a:buNone/>
            </a:pPr>
            <a:r>
              <a:rPr lang="en-US" sz="105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2027 pipeline locked</a:t>
            </a:r>
            <a:endParaRPr lang="en-US" sz="1050" dirty="0"/>
          </a:p>
        </p:txBody>
      </p:sp>
      <p:sp>
        <p:nvSpPr>
          <p:cNvPr id="36" name="Text 33"/>
          <p:cNvSpPr/>
          <p:nvPr/>
        </p:nvSpPr>
        <p:spPr>
          <a:xfrm>
            <a:off x="7086600" y="4069080"/>
            <a:ext cx="18105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3CC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</a:t>
            </a:r>
            <a:pPr indent="0" marL="0">
              <a:buNone/>
            </a:pPr>
            <a:r>
              <a:rPr lang="en-US" sz="105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Council as factory</a:t>
            </a:r>
            <a:endParaRPr lang="en-US" sz="1050" dirty="0"/>
          </a:p>
        </p:txBody>
      </p:sp>
      <p:sp>
        <p:nvSpPr>
          <p:cNvPr id="37" name="Shape 34"/>
          <p:cNvSpPr/>
          <p:nvPr/>
        </p:nvSpPr>
        <p:spPr>
          <a:xfrm>
            <a:off x="502920" y="1783080"/>
            <a:ext cx="1554480" cy="292608"/>
          </a:xfrm>
          <a:prstGeom prst="rect">
            <a:avLst/>
          </a:prstGeom>
          <a:solidFill>
            <a:srgbClr val="93CCEA"/>
          </a:solidFill>
          <a:ln/>
        </p:spPr>
      </p:sp>
      <p:sp>
        <p:nvSpPr>
          <p:cNvPr id="38" name="Text 35"/>
          <p:cNvSpPr/>
          <p:nvPr/>
        </p:nvSpPr>
        <p:spPr>
          <a:xfrm>
            <a:off x="502920" y="1783080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A0A"/>
                </a:solidFill>
              </a:rPr>
              <a:t>▼  We are here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64592"/>
            <a:ext cx="1691640" cy="18288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594360"/>
            <a:ext cx="1097280" cy="0"/>
          </a:xfrm>
          <a:prstGeom prst="line">
            <a:avLst/>
          </a:prstGeom>
          <a:noFill/>
          <a:ln w="25400">
            <a:solidFill>
              <a:srgbClr val="93CCEA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411480" y="7772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What we shipped in Q1</a:t>
            </a:r>
            <a:pPr indent="0" marL="0">
              <a:buNone/>
            </a:pPr>
            <a:r>
              <a:rPr lang="en-US" sz="3800" b="1" dirty="0">
                <a:solidFill>
                  <a:srgbClr val="93CCE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.</a:t>
            </a:r>
            <a:endParaRPr lang="en-US" sz="3800" dirty="0"/>
          </a:p>
        </p:txBody>
      </p:sp>
      <p:sp>
        <p:nvSpPr>
          <p:cNvPr id="5" name="Shape 2"/>
          <p:cNvSpPr/>
          <p:nvPr/>
        </p:nvSpPr>
        <p:spPr>
          <a:xfrm>
            <a:off x="411480" y="1600200"/>
            <a:ext cx="2697480" cy="14173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411480" y="1600200"/>
            <a:ext cx="45720" cy="1417320"/>
          </a:xfrm>
          <a:prstGeom prst="rect">
            <a:avLst/>
          </a:prstGeom>
          <a:solidFill>
            <a:srgbClr val="93CCEA"/>
          </a:solidFill>
          <a:ln/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72" y="1764792"/>
            <a:ext cx="274320" cy="27432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960120" y="1737360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Literacy Launched</a:t>
            </a:r>
            <a:endParaRPr lang="en-US" sz="1300" dirty="0"/>
          </a:p>
        </p:txBody>
      </p:sp>
      <p:sp>
        <p:nvSpPr>
          <p:cNvPr id="9" name="Text 5"/>
          <p:cNvSpPr/>
          <p:nvPr/>
        </p:nvSpPr>
        <p:spPr>
          <a:xfrm>
            <a:off x="576072" y="2148840"/>
            <a:ext cx="2423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 AI 101 + prompting basics rolled out across consultant and sales tracks.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3291840" y="1600200"/>
            <a:ext cx="2697480" cy="14173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3291840" y="1600200"/>
            <a:ext cx="45720" cy="1417320"/>
          </a:xfrm>
          <a:prstGeom prst="rect">
            <a:avLst/>
          </a:prstGeom>
          <a:solidFill>
            <a:srgbClr val="93CCEA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56432" y="1764792"/>
            <a:ext cx="274320" cy="27432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3840480" y="1737360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Enterprise Starter Kit</a:t>
            </a:r>
            <a:endParaRPr lang="en-US" sz="1300" dirty="0"/>
          </a:p>
        </p:txBody>
      </p:sp>
      <p:sp>
        <p:nvSpPr>
          <p:cNvPr id="14" name="Text 9"/>
          <p:cNvSpPr/>
          <p:nvPr/>
        </p:nvSpPr>
        <p:spPr>
          <a:xfrm>
            <a:off x="3456432" y="2148840"/>
            <a:ext cx="2423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Reusable web UI + RAG agent base — used in every demo and sprint.</a:t>
            </a:r>
            <a:endParaRPr lang="en-US" sz="1100" dirty="0"/>
          </a:p>
        </p:txBody>
      </p:sp>
      <p:sp>
        <p:nvSpPr>
          <p:cNvPr id="15" name="Shape 10"/>
          <p:cNvSpPr/>
          <p:nvPr/>
        </p:nvSpPr>
        <p:spPr>
          <a:xfrm>
            <a:off x="6172200" y="1600200"/>
            <a:ext cx="2697480" cy="14173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16" name="Shape 11"/>
          <p:cNvSpPr/>
          <p:nvPr/>
        </p:nvSpPr>
        <p:spPr>
          <a:xfrm>
            <a:off x="6172200" y="1600200"/>
            <a:ext cx="45720" cy="1417320"/>
          </a:xfrm>
          <a:prstGeom prst="rect">
            <a:avLst/>
          </a:prstGeom>
          <a:solidFill>
            <a:srgbClr val="93CCEA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36792" y="1764792"/>
            <a:ext cx="274320" cy="27432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720840" y="1737360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Value Sprint SOW</a:t>
            </a:r>
            <a:endParaRPr lang="en-US" sz="1300" dirty="0"/>
          </a:p>
        </p:txBody>
      </p:sp>
      <p:sp>
        <p:nvSpPr>
          <p:cNvPr id="19" name="Text 13"/>
          <p:cNvSpPr/>
          <p:nvPr/>
        </p:nvSpPr>
        <p:spPr>
          <a:xfrm>
            <a:off x="6336792" y="2148840"/>
            <a:ext cx="2423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2-week fixed-fee prototype → paid pilot model. Ready to sell.</a:t>
            </a:r>
            <a:endParaRPr lang="en-US" sz="1100" dirty="0"/>
          </a:p>
        </p:txBody>
      </p:sp>
      <p:sp>
        <p:nvSpPr>
          <p:cNvPr id="20" name="Shape 14"/>
          <p:cNvSpPr/>
          <p:nvPr/>
        </p:nvSpPr>
        <p:spPr>
          <a:xfrm>
            <a:off x="411480" y="3172968"/>
            <a:ext cx="2697480" cy="14173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5"/>
          <p:cNvSpPr/>
          <p:nvPr/>
        </p:nvSpPr>
        <p:spPr>
          <a:xfrm>
            <a:off x="411480" y="3172968"/>
            <a:ext cx="45720" cy="1417320"/>
          </a:xfrm>
          <a:prstGeom prst="rect">
            <a:avLst/>
          </a:prstGeom>
          <a:solidFill>
            <a:srgbClr val="93CCEA"/>
          </a:solidFill>
          <a:ln/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6072" y="3337560"/>
            <a:ext cx="274320" cy="274320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960120" y="3310128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Demo Solutions Built</a:t>
            </a:r>
            <a:endParaRPr lang="en-US" sz="1300" dirty="0"/>
          </a:p>
        </p:txBody>
      </p:sp>
      <p:sp>
        <p:nvSpPr>
          <p:cNvPr id="24" name="Text 17"/>
          <p:cNvSpPr/>
          <p:nvPr/>
        </p:nvSpPr>
        <p:spPr>
          <a:xfrm>
            <a:off x="576072" y="3721608"/>
            <a:ext cx="2423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Both prototypes you'll see today. Built from scratch on real use cases.</a:t>
            </a:r>
            <a:endParaRPr lang="en-US" sz="1100" dirty="0"/>
          </a:p>
        </p:txBody>
      </p:sp>
      <p:sp>
        <p:nvSpPr>
          <p:cNvPr id="25" name="Shape 18"/>
          <p:cNvSpPr/>
          <p:nvPr/>
        </p:nvSpPr>
        <p:spPr>
          <a:xfrm>
            <a:off x="3291840" y="3172968"/>
            <a:ext cx="2697480" cy="14173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26" name="Shape 19"/>
          <p:cNvSpPr/>
          <p:nvPr/>
        </p:nvSpPr>
        <p:spPr>
          <a:xfrm>
            <a:off x="3291840" y="3172968"/>
            <a:ext cx="45720" cy="1417320"/>
          </a:xfrm>
          <a:prstGeom prst="rect">
            <a:avLst/>
          </a:prstGeom>
          <a:solidFill>
            <a:srgbClr val="93CCEA"/>
          </a:solidFill>
          <a:ln/>
        </p:spPr>
      </p:sp>
      <p:pic>
        <p:nvPicPr>
          <p:cNvPr id="2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56432" y="3337560"/>
            <a:ext cx="274320" cy="274320"/>
          </a:xfrm>
          <a:prstGeom prst="rect">
            <a:avLst/>
          </a:prstGeom>
        </p:spPr>
      </p:pic>
      <p:sp>
        <p:nvSpPr>
          <p:cNvPr id="28" name="Text 20"/>
          <p:cNvSpPr/>
          <p:nvPr/>
        </p:nvSpPr>
        <p:spPr>
          <a:xfrm>
            <a:off x="3840480" y="3310128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Allies Network Live</a:t>
            </a:r>
            <a:endParaRPr lang="en-US" sz="1300" dirty="0"/>
          </a:p>
        </p:txBody>
      </p:sp>
      <p:sp>
        <p:nvSpPr>
          <p:cNvPr id="29" name="Text 21"/>
          <p:cNvSpPr/>
          <p:nvPr/>
        </p:nvSpPr>
        <p:spPr>
          <a:xfrm>
            <a:off x="3456432" y="3721608"/>
            <a:ext cx="2423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Cross-org community active across India, ME and APAC regions.</a:t>
            </a:r>
            <a:endParaRPr lang="en-US" sz="1100" dirty="0"/>
          </a:p>
        </p:txBody>
      </p:sp>
      <p:sp>
        <p:nvSpPr>
          <p:cNvPr id="30" name="Shape 22"/>
          <p:cNvSpPr/>
          <p:nvPr/>
        </p:nvSpPr>
        <p:spPr>
          <a:xfrm>
            <a:off x="6172200" y="3172968"/>
            <a:ext cx="2697480" cy="14173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31" name="Shape 23"/>
          <p:cNvSpPr/>
          <p:nvPr/>
        </p:nvSpPr>
        <p:spPr>
          <a:xfrm>
            <a:off x="6172200" y="3172968"/>
            <a:ext cx="45720" cy="1417320"/>
          </a:xfrm>
          <a:prstGeom prst="rect">
            <a:avLst/>
          </a:prstGeom>
          <a:solidFill>
            <a:srgbClr val="93CCEA"/>
          </a:solidFill>
          <a:ln/>
        </p:spPr>
      </p:sp>
      <p:pic>
        <p:nvPicPr>
          <p:cNvPr id="32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36792" y="3337560"/>
            <a:ext cx="274320" cy="274320"/>
          </a:xfrm>
          <a:prstGeom prst="rect">
            <a:avLst/>
          </a:prstGeom>
        </p:spPr>
      </p:pic>
      <p:sp>
        <p:nvSpPr>
          <p:cNvPr id="33" name="Text 24"/>
          <p:cNvSpPr/>
          <p:nvPr/>
        </p:nvSpPr>
        <p:spPr>
          <a:xfrm>
            <a:off x="6720840" y="3310128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10+ Accounts Briefed</a:t>
            </a:r>
            <a:endParaRPr lang="en-US" sz="1300" dirty="0"/>
          </a:p>
        </p:txBody>
      </p:sp>
      <p:sp>
        <p:nvSpPr>
          <p:cNvPr id="34" name="Text 25"/>
          <p:cNvSpPr/>
          <p:nvPr/>
        </p:nvSpPr>
        <p:spPr>
          <a:xfrm>
            <a:off x="6336792" y="3721608"/>
            <a:ext cx="2423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Sales + domain leads running AI discovery sessions with target accounts.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64592"/>
            <a:ext cx="1691640" cy="18288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594360"/>
            <a:ext cx="1097280" cy="0"/>
          </a:xfrm>
          <a:prstGeom prst="line">
            <a:avLst/>
          </a:prstGeom>
          <a:noFill/>
          <a:ln w="25400">
            <a:solidFill>
              <a:srgbClr val="93CCEA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411480" y="7772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Three lanes. All SAP-aligned</a:t>
            </a:r>
            <a:pPr indent="0" marL="0">
              <a:buNone/>
            </a:pPr>
            <a:r>
              <a:rPr lang="en-US" sz="3800" b="1" dirty="0">
                <a:solidFill>
                  <a:srgbClr val="93CCE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.</a:t>
            </a:r>
            <a:endParaRPr lang="en-US" sz="3800" dirty="0"/>
          </a:p>
        </p:txBody>
      </p:sp>
      <p:sp>
        <p:nvSpPr>
          <p:cNvPr id="5" name="Text 2"/>
          <p:cNvSpPr/>
          <p:nvPr/>
        </p:nvSpPr>
        <p:spPr>
          <a:xfrm>
            <a:off x="411480" y="1481328"/>
            <a:ext cx="8321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don't do generic AI. Every offering anchors to Westernacher's core: SAP, supply chain, process transformation.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411480" y="2011680"/>
            <a:ext cx="2697480" cy="2880360"/>
          </a:xfrm>
          <a:prstGeom prst="rect">
            <a:avLst/>
          </a:prstGeom>
          <a:solidFill>
            <a:srgbClr val="93CCEA"/>
          </a:solidFill>
          <a:ln/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" y="2148840"/>
            <a:ext cx="347472" cy="347472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069848" y="2121408"/>
            <a:ext cx="822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01</a:t>
            </a:r>
            <a:pPr indent="0" marL="0">
              <a:buNone/>
            </a:pPr>
            <a:r>
              <a:rPr lang="en-US" sz="2200" b="1" dirty="0">
                <a:solidFill>
                  <a:srgbClr val="93CCE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.</a:t>
            </a:r>
            <a:endParaRPr lang="en-US" sz="2200" dirty="0"/>
          </a:p>
        </p:txBody>
      </p:sp>
      <p:sp>
        <p:nvSpPr>
          <p:cNvPr id="9" name="Text 5"/>
          <p:cNvSpPr/>
          <p:nvPr/>
        </p:nvSpPr>
        <p:spPr>
          <a:xfrm>
            <a:off x="612648" y="2606040"/>
            <a:ext cx="2377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Planning &amp;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Support</a:t>
            </a:r>
            <a:endParaRPr lang="en-US" sz="1800" dirty="0"/>
          </a:p>
        </p:txBody>
      </p:sp>
      <p:sp>
        <p:nvSpPr>
          <p:cNvPr id="10" name="Shape 6"/>
          <p:cNvSpPr/>
          <p:nvPr/>
        </p:nvSpPr>
        <p:spPr>
          <a:xfrm>
            <a:off x="612648" y="3319272"/>
            <a:ext cx="1234440" cy="237744"/>
          </a:xfrm>
          <a:prstGeom prst="rect">
            <a:avLst/>
          </a:prstGeom>
          <a:solidFill>
            <a:srgbClr val="93CCEA"/>
          </a:solidFill>
          <a:ln/>
        </p:spPr>
      </p:sp>
      <p:sp>
        <p:nvSpPr>
          <p:cNvPr id="11" name="Text 7"/>
          <p:cNvSpPr/>
          <p:nvPr/>
        </p:nvSpPr>
        <p:spPr>
          <a:xfrm>
            <a:off x="612648" y="3319272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SAP IBP</a:t>
            </a:r>
            <a:endParaRPr lang="en-US" sz="1000" dirty="0"/>
          </a:p>
        </p:txBody>
      </p:sp>
      <p:sp>
        <p:nvSpPr>
          <p:cNvPr id="12" name="Text 8"/>
          <p:cNvSpPr/>
          <p:nvPr/>
        </p:nvSpPr>
        <p:spPr>
          <a:xfrm>
            <a:off x="612648" y="370332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Improved planning insight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612648" y="4041648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Scenario analysis &amp; simulation</a:t>
            </a:r>
            <a:endParaRPr lang="en-US" sz="1100" dirty="0"/>
          </a:p>
        </p:txBody>
      </p:sp>
      <p:sp>
        <p:nvSpPr>
          <p:cNvPr id="14" name="Text 10"/>
          <p:cNvSpPr/>
          <p:nvPr/>
        </p:nvSpPr>
        <p:spPr>
          <a:xfrm>
            <a:off x="612648" y="4379976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Exception handling automation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3291840" y="2011680"/>
            <a:ext cx="2697480" cy="2880360"/>
          </a:xfrm>
          <a:prstGeom prst="rect">
            <a:avLst/>
          </a:prstGeom>
          <a:solidFill>
            <a:srgbClr val="CECAE5"/>
          </a:solidFill>
          <a:ln/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93008" y="2148840"/>
            <a:ext cx="347472" cy="34747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3950208" y="2121408"/>
            <a:ext cx="822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02</a:t>
            </a:r>
            <a:pPr indent="0" marL="0">
              <a:buNone/>
            </a:pPr>
            <a:r>
              <a:rPr lang="en-US" sz="2200" b="1" dirty="0">
                <a:solidFill>
                  <a:srgbClr val="93CCE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.</a:t>
            </a:r>
            <a:endParaRPr lang="en-US" sz="2200" dirty="0"/>
          </a:p>
        </p:txBody>
      </p:sp>
      <p:sp>
        <p:nvSpPr>
          <p:cNvPr id="18" name="Text 13"/>
          <p:cNvSpPr/>
          <p:nvPr/>
        </p:nvSpPr>
        <p:spPr>
          <a:xfrm>
            <a:off x="3493008" y="2606040"/>
            <a:ext cx="2377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Intelligence</a:t>
            </a:r>
            <a:endParaRPr lang="en-US" sz="1800" dirty="0"/>
          </a:p>
        </p:txBody>
      </p:sp>
      <p:sp>
        <p:nvSpPr>
          <p:cNvPr id="19" name="Shape 14"/>
          <p:cNvSpPr/>
          <p:nvPr/>
        </p:nvSpPr>
        <p:spPr>
          <a:xfrm>
            <a:off x="3493008" y="3319272"/>
            <a:ext cx="1234440" cy="237744"/>
          </a:xfrm>
          <a:prstGeom prst="rect">
            <a:avLst/>
          </a:prstGeom>
          <a:solidFill>
            <a:srgbClr val="93CCEA"/>
          </a:solidFill>
          <a:ln/>
        </p:spPr>
      </p:sp>
      <p:sp>
        <p:nvSpPr>
          <p:cNvPr id="20" name="Text 15"/>
          <p:cNvSpPr/>
          <p:nvPr/>
        </p:nvSpPr>
        <p:spPr>
          <a:xfrm>
            <a:off x="3493008" y="3319272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SAP Signavio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3493008" y="370332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 mining → recommendations</a:t>
            </a:r>
            <a:endParaRPr lang="en-US" sz="1100" dirty="0"/>
          </a:p>
        </p:txBody>
      </p:sp>
      <p:sp>
        <p:nvSpPr>
          <p:cNvPr id="22" name="Text 17"/>
          <p:cNvSpPr/>
          <p:nvPr/>
        </p:nvSpPr>
        <p:spPr>
          <a:xfrm>
            <a:off x="3493008" y="4041648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Bottleneck identification</a:t>
            </a:r>
            <a:endParaRPr lang="en-US" sz="1100" dirty="0"/>
          </a:p>
        </p:txBody>
      </p:sp>
      <p:sp>
        <p:nvSpPr>
          <p:cNvPr id="23" name="Text 18"/>
          <p:cNvSpPr/>
          <p:nvPr/>
        </p:nvSpPr>
        <p:spPr>
          <a:xfrm>
            <a:off x="3493008" y="4379976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Actionable remediation paths</a:t>
            </a:r>
            <a:endParaRPr lang="en-US" sz="1100" dirty="0"/>
          </a:p>
        </p:txBody>
      </p:sp>
      <p:sp>
        <p:nvSpPr>
          <p:cNvPr id="24" name="Shape 19"/>
          <p:cNvSpPr/>
          <p:nvPr/>
        </p:nvSpPr>
        <p:spPr>
          <a:xfrm>
            <a:off x="6172200" y="2011680"/>
            <a:ext cx="2697480" cy="2880360"/>
          </a:xfrm>
          <a:prstGeom prst="rect">
            <a:avLst/>
          </a:prstGeom>
          <a:solidFill>
            <a:srgbClr val="0A0A0A"/>
          </a:solidFill>
          <a:ln/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pic>
        <p:nvPicPr>
          <p:cNvPr id="2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73368" y="2148840"/>
            <a:ext cx="347472" cy="347472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6830568" y="2121408"/>
            <a:ext cx="822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03</a:t>
            </a:r>
            <a:pPr indent="0" marL="0">
              <a:buNone/>
            </a:pPr>
            <a:r>
              <a:rPr lang="en-US" sz="2200" b="1" dirty="0">
                <a:solidFill>
                  <a:srgbClr val="93CCE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.</a:t>
            </a:r>
            <a:endParaRPr lang="en-US" sz="2200" dirty="0"/>
          </a:p>
        </p:txBody>
      </p:sp>
      <p:sp>
        <p:nvSpPr>
          <p:cNvPr id="27" name="Text 21"/>
          <p:cNvSpPr/>
          <p:nvPr/>
        </p:nvSpPr>
        <p:spPr>
          <a:xfrm>
            <a:off x="6373368" y="2606040"/>
            <a:ext cx="2377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Consulting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Productivity</a:t>
            </a:r>
            <a:endParaRPr lang="en-US" sz="1800" dirty="0"/>
          </a:p>
        </p:txBody>
      </p:sp>
      <p:sp>
        <p:nvSpPr>
          <p:cNvPr id="28" name="Shape 22"/>
          <p:cNvSpPr/>
          <p:nvPr/>
        </p:nvSpPr>
        <p:spPr>
          <a:xfrm>
            <a:off x="6373368" y="3319272"/>
            <a:ext cx="1234440" cy="237744"/>
          </a:xfrm>
          <a:prstGeom prst="rect">
            <a:avLst/>
          </a:prstGeom>
          <a:solidFill>
            <a:srgbClr val="93CCEA"/>
          </a:solidFill>
          <a:ln/>
        </p:spPr>
      </p:sp>
      <p:sp>
        <p:nvSpPr>
          <p:cNvPr id="29" name="Text 23"/>
          <p:cNvSpPr/>
          <p:nvPr/>
        </p:nvSpPr>
        <p:spPr>
          <a:xfrm>
            <a:off x="6373368" y="3319272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Pre-sales + Delivery</a:t>
            </a:r>
            <a:endParaRPr lang="en-US" sz="1000" dirty="0"/>
          </a:p>
        </p:txBody>
      </p:sp>
      <p:sp>
        <p:nvSpPr>
          <p:cNvPr id="30" name="Text 24"/>
          <p:cNvSpPr/>
          <p:nvPr/>
        </p:nvSpPr>
        <p:spPr>
          <a:xfrm>
            <a:off x="6373368" y="370332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30–50% faster proposal drafts</a:t>
            </a:r>
            <a:endParaRPr lang="en-US" sz="1100" dirty="0"/>
          </a:p>
        </p:txBody>
      </p:sp>
      <p:sp>
        <p:nvSpPr>
          <p:cNvPr id="31" name="Text 25"/>
          <p:cNvSpPr/>
          <p:nvPr/>
        </p:nvSpPr>
        <p:spPr>
          <a:xfrm>
            <a:off x="6373368" y="4041648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Auto-generate workshop agendas</a:t>
            </a:r>
            <a:endParaRPr lang="en-US" sz="1100" dirty="0"/>
          </a:p>
        </p:txBody>
      </p:sp>
      <p:sp>
        <p:nvSpPr>
          <p:cNvPr id="32" name="Text 26"/>
          <p:cNvSpPr/>
          <p:nvPr/>
        </p:nvSpPr>
        <p:spPr>
          <a:xfrm>
            <a:off x="6373368" y="4379976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Blueprint &amp; SOW acceleration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64592"/>
            <a:ext cx="1691640" cy="18288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594360"/>
            <a:ext cx="731520" cy="0"/>
          </a:xfrm>
          <a:prstGeom prst="line">
            <a:avLst/>
          </a:prstGeom>
          <a:noFill/>
          <a:ln w="25400">
            <a:solidFill>
              <a:srgbClr val="93CCEA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411480" y="777240"/>
            <a:ext cx="5303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50" kern="0" dirty="0">
                <a:solidFill>
                  <a:srgbClr val="93CC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DEMO  ·  01</a:t>
            </a:r>
            <a:endParaRPr lang="en-US" sz="950" dirty="0"/>
          </a:p>
        </p:txBody>
      </p:sp>
      <p:sp>
        <p:nvSpPr>
          <p:cNvPr id="5" name="Text 2"/>
          <p:cNvSpPr/>
          <p:nvPr/>
        </p:nvSpPr>
        <p:spPr>
          <a:xfrm>
            <a:off x="411480" y="1115568"/>
            <a:ext cx="5303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AI Proposal Agent</a:t>
            </a:r>
            <a:pPr indent="0" marL="0">
              <a:buNone/>
            </a:pPr>
            <a:r>
              <a:rPr lang="en-US" sz="4000" b="1" dirty="0">
                <a:solidFill>
                  <a:srgbClr val="93CCE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.</a:t>
            </a:r>
            <a:endParaRPr lang="en-US" sz="4000" dirty="0"/>
          </a:p>
        </p:txBody>
      </p:sp>
      <p:sp>
        <p:nvSpPr>
          <p:cNvPr id="6" name="Text 3"/>
          <p:cNvSpPr/>
          <p:nvPr/>
        </p:nvSpPr>
        <p:spPr>
          <a:xfrm>
            <a:off x="411480" y="1938528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Consulting Productivity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411480" y="2468880"/>
            <a:ext cx="5303520" cy="493776"/>
          </a:xfrm>
          <a:prstGeom prst="rect">
            <a:avLst/>
          </a:prstGeom>
          <a:solidFill>
            <a:srgbClr val="0D0D0D"/>
          </a:solidFill>
          <a:ln/>
        </p:spPr>
      </p:sp>
      <p:sp>
        <p:nvSpPr>
          <p:cNvPr id="8" name="Shape 5"/>
          <p:cNvSpPr/>
          <p:nvPr/>
        </p:nvSpPr>
        <p:spPr>
          <a:xfrm>
            <a:off x="411480" y="2468880"/>
            <a:ext cx="36576" cy="493776"/>
          </a:xfrm>
          <a:prstGeom prst="rect">
            <a:avLst/>
          </a:prstGeom>
          <a:solidFill>
            <a:srgbClr val="93CCEA"/>
          </a:solidFill>
          <a:ln/>
        </p:spPr>
      </p:sp>
      <p:sp>
        <p:nvSpPr>
          <p:cNvPr id="9" name="Text 6"/>
          <p:cNvSpPr/>
          <p:nvPr/>
        </p:nvSpPr>
        <p:spPr>
          <a:xfrm>
            <a:off x="566928" y="2496312"/>
            <a:ext cx="5029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⚡  Paste a client brief — get a full SOW in 30 seconds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11480" y="3035808"/>
            <a:ext cx="5303520" cy="493776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11" name="Shape 8"/>
          <p:cNvSpPr/>
          <p:nvPr/>
        </p:nvSpPr>
        <p:spPr>
          <a:xfrm>
            <a:off x="411480" y="3035808"/>
            <a:ext cx="36576" cy="493776"/>
          </a:xfrm>
          <a:prstGeom prst="rect">
            <a:avLst/>
          </a:prstGeom>
          <a:solidFill>
            <a:srgbClr val="93CCEA"/>
          </a:solidFill>
          <a:ln/>
        </p:spPr>
      </p:sp>
      <p:sp>
        <p:nvSpPr>
          <p:cNvPr id="12" name="Text 9"/>
          <p:cNvSpPr/>
          <p:nvPr/>
        </p:nvSpPr>
        <p:spPr>
          <a:xfrm>
            <a:off x="566928" y="3063240"/>
            <a:ext cx="5029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📋  Scope · Timeline · Value hypothesis · Risks — all structured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11480" y="3602736"/>
            <a:ext cx="5303520" cy="493776"/>
          </a:xfrm>
          <a:prstGeom prst="rect">
            <a:avLst/>
          </a:prstGeom>
          <a:solidFill>
            <a:srgbClr val="0D0D0D"/>
          </a:solidFill>
          <a:ln/>
        </p:spPr>
      </p:sp>
      <p:sp>
        <p:nvSpPr>
          <p:cNvPr id="14" name="Shape 11"/>
          <p:cNvSpPr/>
          <p:nvPr/>
        </p:nvSpPr>
        <p:spPr>
          <a:xfrm>
            <a:off x="411480" y="3602736"/>
            <a:ext cx="36576" cy="493776"/>
          </a:xfrm>
          <a:prstGeom prst="rect">
            <a:avLst/>
          </a:prstGeom>
          <a:solidFill>
            <a:srgbClr val="93CCEA"/>
          </a:solidFill>
          <a:ln/>
        </p:spPr>
      </p:sp>
      <p:sp>
        <p:nvSpPr>
          <p:cNvPr id="15" name="Text 12"/>
          <p:cNvSpPr/>
          <p:nvPr/>
        </p:nvSpPr>
        <p:spPr>
          <a:xfrm>
            <a:off x="566928" y="3630168"/>
            <a:ext cx="5029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📤  Export directly to Word or PowerPoint with one click</a:t>
            </a:r>
            <a:endParaRPr lang="en-US" sz="1200" dirty="0"/>
          </a:p>
        </p:txBody>
      </p:sp>
      <p:sp>
        <p:nvSpPr>
          <p:cNvPr id="16" name="Shape 13">
            <a:hlinkClick r:id="rId2" tooltip=""/>
          </p:cNvPr>
          <p:cNvSpPr/>
          <p:nvPr/>
        </p:nvSpPr>
        <p:spPr>
          <a:xfrm>
            <a:off x="411480" y="4315968"/>
            <a:ext cx="2377440" cy="475488"/>
          </a:xfrm>
          <a:prstGeom prst="rect">
            <a:avLst/>
          </a:prstGeom>
          <a:solidFill>
            <a:srgbClr val="93CCEA"/>
          </a:solidFill>
          <a:ln/>
        </p:spPr>
      </p:sp>
      <p:sp>
        <p:nvSpPr>
          <p:cNvPr id="17" name="Text 14">
            <a:hlinkClick r:id="rId3" tooltip=""/>
          </p:cNvPr>
          <p:cNvSpPr/>
          <p:nvPr/>
        </p:nvSpPr>
        <p:spPr>
          <a:xfrm>
            <a:off x="411480" y="4315968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u="sng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▶   Launch Demo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2907792" y="4370832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Click to open in browser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5989320" y="685800"/>
            <a:ext cx="2834640" cy="4343400"/>
          </a:xfrm>
          <a:prstGeom prst="rect">
            <a:avLst/>
          </a:prstGeom>
          <a:solidFill>
            <a:srgbClr val="0D0D0D"/>
          </a:solidFill>
          <a:ln/>
        </p:spPr>
      </p:sp>
      <p:sp>
        <p:nvSpPr>
          <p:cNvPr id="20" name="Shape 17"/>
          <p:cNvSpPr/>
          <p:nvPr/>
        </p:nvSpPr>
        <p:spPr>
          <a:xfrm>
            <a:off x="5989320" y="685800"/>
            <a:ext cx="2834640" cy="36576"/>
          </a:xfrm>
          <a:prstGeom prst="rect">
            <a:avLst/>
          </a:prstGeom>
          <a:solidFill>
            <a:srgbClr val="93CCEA"/>
          </a:solidFill>
          <a:ln/>
        </p:spPr>
      </p:sp>
      <p:sp>
        <p:nvSpPr>
          <p:cNvPr id="21" name="Text 18"/>
          <p:cNvSpPr/>
          <p:nvPr/>
        </p:nvSpPr>
        <p:spPr>
          <a:xfrm>
            <a:off x="6126480" y="82296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50" kern="0" dirty="0">
                <a:solidFill>
                  <a:srgbClr val="93CC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SCAN TO TRY IT NOW</a:t>
            </a:r>
            <a:endParaRPr lang="en-US" sz="1000" dirty="0"/>
          </a:p>
        </p:txBody>
      </p:sp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9360" y="1234440"/>
            <a:ext cx="2468880" cy="2468880"/>
          </a:xfrm>
          <a:prstGeom prst="rect">
            <a:avLst/>
          </a:prstGeom>
        </p:spPr>
      </p:pic>
      <p:sp>
        <p:nvSpPr>
          <p:cNvPr id="23" name="Text 19"/>
          <p:cNvSpPr/>
          <p:nvPr/>
        </p:nvSpPr>
        <p:spPr>
          <a:xfrm>
            <a:off x="6126480" y="3767328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bindx-consulting.github.io/westernacher-ai-desk/wepulse.html</a:t>
            </a:r>
            <a:endParaRPr lang="en-US" sz="900" dirty="0"/>
          </a:p>
        </p:txBody>
      </p:sp>
      <p:sp>
        <p:nvSpPr>
          <p:cNvPr id="24" name="Shape 20"/>
          <p:cNvSpPr/>
          <p:nvPr/>
        </p:nvSpPr>
        <p:spPr>
          <a:xfrm>
            <a:off x="6126480" y="4114800"/>
            <a:ext cx="2468880" cy="685800"/>
          </a:xfrm>
          <a:prstGeom prst="rect">
            <a:avLst/>
          </a:prstGeom>
          <a:solidFill>
            <a:srgbClr val="141414"/>
          </a:solidFill>
          <a:ln/>
        </p:spPr>
      </p:sp>
      <p:sp>
        <p:nvSpPr>
          <p:cNvPr id="25" name="Text 21"/>
          <p:cNvSpPr/>
          <p:nvPr/>
        </p:nvSpPr>
        <p:spPr>
          <a:xfrm>
            <a:off x="6172200" y="4160520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on your phone or laptop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Westernacher anything — watch it answer live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64592"/>
            <a:ext cx="1691640" cy="18288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594360"/>
            <a:ext cx="731520" cy="0"/>
          </a:xfrm>
          <a:prstGeom prst="line">
            <a:avLst/>
          </a:prstGeom>
          <a:noFill/>
          <a:ln w="25400">
            <a:solidFill>
              <a:srgbClr val="93CCEA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411480" y="777240"/>
            <a:ext cx="5303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50" kern="0" dirty="0">
                <a:solidFill>
                  <a:srgbClr val="93CC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DEMO  ·  02</a:t>
            </a:r>
            <a:endParaRPr lang="en-US" sz="950" dirty="0"/>
          </a:p>
        </p:txBody>
      </p:sp>
      <p:sp>
        <p:nvSpPr>
          <p:cNvPr id="5" name="Text 2"/>
          <p:cNvSpPr/>
          <p:nvPr/>
        </p:nvSpPr>
        <p:spPr>
          <a:xfrm>
            <a:off x="411480" y="1115568"/>
            <a:ext cx="5303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Westernacher AI Desk</a:t>
            </a:r>
            <a:pPr indent="0" marL="0">
              <a:buNone/>
            </a:pPr>
            <a:r>
              <a:rPr lang="en-US" sz="3400" b="1" dirty="0">
                <a:solidFill>
                  <a:srgbClr val="93CCE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.</a:t>
            </a:r>
            <a:endParaRPr lang="en-US" sz="3400" dirty="0"/>
          </a:p>
        </p:txBody>
      </p:sp>
      <p:sp>
        <p:nvSpPr>
          <p:cNvPr id="6" name="Text 3"/>
          <p:cNvSpPr/>
          <p:nvPr/>
        </p:nvSpPr>
        <p:spPr>
          <a:xfrm>
            <a:off x="411480" y="1938528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93CC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anything. Get answers. Export instantly.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411480" y="2468880"/>
            <a:ext cx="5303520" cy="493776"/>
          </a:xfrm>
          <a:prstGeom prst="rect">
            <a:avLst/>
          </a:prstGeom>
          <a:solidFill>
            <a:srgbClr val="0D0D0D"/>
          </a:solidFill>
          <a:ln/>
        </p:spPr>
      </p:sp>
      <p:sp>
        <p:nvSpPr>
          <p:cNvPr id="8" name="Shape 5"/>
          <p:cNvSpPr/>
          <p:nvPr/>
        </p:nvSpPr>
        <p:spPr>
          <a:xfrm>
            <a:off x="411480" y="2468880"/>
            <a:ext cx="36576" cy="493776"/>
          </a:xfrm>
          <a:prstGeom prst="rect">
            <a:avLst/>
          </a:prstGeom>
          <a:solidFill>
            <a:srgbClr val="93CCEA"/>
          </a:solidFill>
          <a:ln/>
        </p:spPr>
      </p:sp>
      <p:sp>
        <p:nvSpPr>
          <p:cNvPr id="9" name="Text 6"/>
          <p:cNvSpPr/>
          <p:nvPr/>
        </p:nvSpPr>
        <p:spPr>
          <a:xfrm>
            <a:off x="566928" y="2496312"/>
            <a:ext cx="5029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🧠  55+ years of Westernacher knowledge — clients, capabilities, wins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11480" y="3035808"/>
            <a:ext cx="5303520" cy="493776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11" name="Shape 8"/>
          <p:cNvSpPr/>
          <p:nvPr/>
        </p:nvSpPr>
        <p:spPr>
          <a:xfrm>
            <a:off x="411480" y="3035808"/>
            <a:ext cx="36576" cy="493776"/>
          </a:xfrm>
          <a:prstGeom prst="rect">
            <a:avLst/>
          </a:prstGeom>
          <a:solidFill>
            <a:srgbClr val="93CCEA"/>
          </a:solidFill>
          <a:ln/>
        </p:spPr>
      </p:sp>
      <p:sp>
        <p:nvSpPr>
          <p:cNvPr id="12" name="Text 9"/>
          <p:cNvSpPr/>
          <p:nvPr/>
        </p:nvSpPr>
        <p:spPr>
          <a:xfrm>
            <a:off x="566928" y="3063240"/>
            <a:ext cx="5029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💬  Natural language Q&amp;A — grounded in real content, no hallucination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11480" y="3602736"/>
            <a:ext cx="5303520" cy="493776"/>
          </a:xfrm>
          <a:prstGeom prst="rect">
            <a:avLst/>
          </a:prstGeom>
          <a:solidFill>
            <a:srgbClr val="0D0D0D"/>
          </a:solidFill>
          <a:ln/>
        </p:spPr>
      </p:sp>
      <p:sp>
        <p:nvSpPr>
          <p:cNvPr id="14" name="Shape 11"/>
          <p:cNvSpPr/>
          <p:nvPr/>
        </p:nvSpPr>
        <p:spPr>
          <a:xfrm>
            <a:off x="411480" y="3602736"/>
            <a:ext cx="36576" cy="493776"/>
          </a:xfrm>
          <a:prstGeom prst="rect">
            <a:avLst/>
          </a:prstGeom>
          <a:solidFill>
            <a:srgbClr val="93CCEA"/>
          </a:solidFill>
          <a:ln/>
        </p:spPr>
      </p:sp>
      <p:sp>
        <p:nvSpPr>
          <p:cNvPr id="15" name="Text 12"/>
          <p:cNvSpPr/>
          <p:nvPr/>
        </p:nvSpPr>
        <p:spPr>
          <a:xfrm>
            <a:off x="566928" y="3630168"/>
            <a:ext cx="5029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📊  Any answer exported to Excel, Word, or PowerPoint in seconds</a:t>
            </a:r>
            <a:endParaRPr lang="en-US" sz="1200" dirty="0"/>
          </a:p>
        </p:txBody>
      </p:sp>
      <p:sp>
        <p:nvSpPr>
          <p:cNvPr id="16" name="Shape 13">
            <a:hlinkClick r:id="rId2" tooltip=""/>
          </p:cNvPr>
          <p:cNvSpPr/>
          <p:nvPr/>
        </p:nvSpPr>
        <p:spPr>
          <a:xfrm>
            <a:off x="411480" y="4315968"/>
            <a:ext cx="2377440" cy="475488"/>
          </a:xfrm>
          <a:prstGeom prst="rect">
            <a:avLst/>
          </a:prstGeom>
          <a:solidFill>
            <a:srgbClr val="93CCEA"/>
          </a:solidFill>
          <a:ln/>
        </p:spPr>
      </p:sp>
      <p:sp>
        <p:nvSpPr>
          <p:cNvPr id="17" name="Text 14">
            <a:hlinkClick r:id="rId3" tooltip=""/>
          </p:cNvPr>
          <p:cNvSpPr/>
          <p:nvPr/>
        </p:nvSpPr>
        <p:spPr>
          <a:xfrm>
            <a:off x="411480" y="4315968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u="sng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▶   Launch AI Desk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2907792" y="4370832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Click to open in browser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5989320" y="685800"/>
            <a:ext cx="2834640" cy="4343400"/>
          </a:xfrm>
          <a:prstGeom prst="rect">
            <a:avLst/>
          </a:prstGeom>
          <a:solidFill>
            <a:srgbClr val="0D0D0D"/>
          </a:solidFill>
          <a:ln/>
        </p:spPr>
      </p:sp>
      <p:sp>
        <p:nvSpPr>
          <p:cNvPr id="20" name="Shape 17"/>
          <p:cNvSpPr/>
          <p:nvPr/>
        </p:nvSpPr>
        <p:spPr>
          <a:xfrm>
            <a:off x="5989320" y="685800"/>
            <a:ext cx="2834640" cy="36576"/>
          </a:xfrm>
          <a:prstGeom prst="rect">
            <a:avLst/>
          </a:prstGeom>
          <a:solidFill>
            <a:srgbClr val="93CCEA"/>
          </a:solidFill>
          <a:ln/>
        </p:spPr>
      </p:sp>
      <p:sp>
        <p:nvSpPr>
          <p:cNvPr id="21" name="Text 18"/>
          <p:cNvSpPr/>
          <p:nvPr/>
        </p:nvSpPr>
        <p:spPr>
          <a:xfrm>
            <a:off x="6126480" y="82296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50" kern="0" dirty="0">
                <a:solidFill>
                  <a:srgbClr val="93CC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SCAN TO TRY IT NOW</a:t>
            </a:r>
            <a:endParaRPr lang="en-US" sz="1000" dirty="0"/>
          </a:p>
        </p:txBody>
      </p:sp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9360" y="1234440"/>
            <a:ext cx="2468880" cy="2468880"/>
          </a:xfrm>
          <a:prstGeom prst="rect">
            <a:avLst/>
          </a:prstGeom>
        </p:spPr>
      </p:pic>
      <p:sp>
        <p:nvSpPr>
          <p:cNvPr id="23" name="Text 19"/>
          <p:cNvSpPr/>
          <p:nvPr/>
        </p:nvSpPr>
        <p:spPr>
          <a:xfrm>
            <a:off x="6126480" y="3767328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bindx-consulting.github.io/westernacher-ai-desk</a:t>
            </a:r>
            <a:endParaRPr lang="en-US" sz="900" dirty="0"/>
          </a:p>
        </p:txBody>
      </p:sp>
      <p:sp>
        <p:nvSpPr>
          <p:cNvPr id="24" name="Shape 20"/>
          <p:cNvSpPr/>
          <p:nvPr/>
        </p:nvSpPr>
        <p:spPr>
          <a:xfrm>
            <a:off x="6126480" y="4114800"/>
            <a:ext cx="2468880" cy="685800"/>
          </a:xfrm>
          <a:prstGeom prst="rect">
            <a:avLst/>
          </a:prstGeom>
          <a:solidFill>
            <a:srgbClr val="141414"/>
          </a:solidFill>
          <a:ln/>
        </p:spPr>
      </p:sp>
      <p:sp>
        <p:nvSpPr>
          <p:cNvPr id="25" name="Text 21"/>
          <p:cNvSpPr/>
          <p:nvPr/>
        </p:nvSpPr>
        <p:spPr>
          <a:xfrm>
            <a:off x="6172200" y="4160520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on your phone or laptop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Westernacher anything — watch it answer live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64592"/>
            <a:ext cx="1691640" cy="18288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594360"/>
            <a:ext cx="1097280" cy="0"/>
          </a:xfrm>
          <a:prstGeom prst="line">
            <a:avLst/>
          </a:prstGeom>
          <a:noFill/>
          <a:ln w="25400">
            <a:solidFill>
              <a:srgbClr val="93CCEA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411480" y="77724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AI Allies Network</a:t>
            </a:r>
            <a:pPr indent="0" marL="0">
              <a:buNone/>
            </a:pPr>
            <a:r>
              <a:rPr lang="en-US" sz="4000" b="1" dirty="0">
                <a:solidFill>
                  <a:srgbClr val="93CCE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.</a:t>
            </a:r>
            <a:endParaRPr lang="en-US" sz="4000" dirty="0"/>
          </a:p>
        </p:txBody>
      </p:sp>
      <p:sp>
        <p:nvSpPr>
          <p:cNvPr id="5" name="Text 2"/>
          <p:cNvSpPr/>
          <p:nvPr/>
        </p:nvSpPr>
        <p:spPr>
          <a:xfrm>
            <a:off x="411480" y="1481328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don't have to build — but you should contribute.</a:t>
            </a:r>
            <a:endParaRPr lang="en-US" sz="1700" dirty="0"/>
          </a:p>
        </p:txBody>
      </p:sp>
      <p:sp>
        <p:nvSpPr>
          <p:cNvPr id="6" name="Shape 3"/>
          <p:cNvSpPr/>
          <p:nvPr/>
        </p:nvSpPr>
        <p:spPr>
          <a:xfrm>
            <a:off x="411480" y="2011680"/>
            <a:ext cx="8321040" cy="749808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7" name="Shape 4"/>
          <p:cNvSpPr/>
          <p:nvPr/>
        </p:nvSpPr>
        <p:spPr>
          <a:xfrm>
            <a:off x="411480" y="2011680"/>
            <a:ext cx="45720" cy="749808"/>
          </a:xfrm>
          <a:prstGeom prst="rect">
            <a:avLst/>
          </a:prstGeom>
          <a:solidFill>
            <a:srgbClr val="93CCEA"/>
          </a:solidFill>
          <a:ln/>
        </p:spPr>
      </p:sp>
      <p:sp>
        <p:nvSpPr>
          <p:cNvPr id="8" name="Text 5"/>
          <p:cNvSpPr/>
          <p:nvPr/>
        </p:nvSpPr>
        <p:spPr>
          <a:xfrm>
            <a:off x="621792" y="2075688"/>
            <a:ext cx="79552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"Connect AI-curious and AI-skilled colleagues — foster a shared space to collect, exchange, and grow practical AI knowledge across the region."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411480" y="2944368"/>
            <a:ext cx="2697480" cy="1828800"/>
          </a:xfrm>
          <a:prstGeom prst="rect">
            <a:avLst/>
          </a:prstGeom>
          <a:solidFill>
            <a:srgbClr val="0A0A0A"/>
          </a:solidFill>
          <a:ln/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" y="3090672"/>
            <a:ext cx="329184" cy="329184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612648" y="352044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Promoters</a:t>
            </a:r>
            <a:endParaRPr lang="en-US" sz="1500" dirty="0"/>
          </a:p>
        </p:txBody>
      </p:sp>
      <p:sp>
        <p:nvSpPr>
          <p:cNvPr id="12" name="Text 8"/>
          <p:cNvSpPr/>
          <p:nvPr/>
        </p:nvSpPr>
        <p:spPr>
          <a:xfrm>
            <a:off x="612648" y="393192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Spot real use cases on projects.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Bring them to the council.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3291840" y="2944368"/>
            <a:ext cx="2697480" cy="1828800"/>
          </a:xfrm>
          <a:prstGeom prst="rect">
            <a:avLst/>
          </a:prstGeom>
          <a:solidFill>
            <a:srgbClr val="F7F7F7"/>
          </a:solidFill>
          <a:ln/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93008" y="3090672"/>
            <a:ext cx="329184" cy="329184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3493008" y="352044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Domain SMEs</a:t>
            </a:r>
            <a:endParaRPr lang="en-US" sz="1500" dirty="0"/>
          </a:p>
        </p:txBody>
      </p:sp>
      <p:sp>
        <p:nvSpPr>
          <p:cNvPr id="16" name="Text 11"/>
          <p:cNvSpPr/>
          <p:nvPr/>
        </p:nvSpPr>
        <p:spPr>
          <a:xfrm>
            <a:off x="3493008" y="393192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Validate prototypes.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Give the demos business context.</a:t>
            </a:r>
            <a:endParaRPr lang="en-US" sz="1200" dirty="0"/>
          </a:p>
        </p:txBody>
      </p:sp>
      <p:sp>
        <p:nvSpPr>
          <p:cNvPr id="17" name="Shape 12"/>
          <p:cNvSpPr/>
          <p:nvPr/>
        </p:nvSpPr>
        <p:spPr>
          <a:xfrm>
            <a:off x="6172200" y="2944368"/>
            <a:ext cx="2697480" cy="1828800"/>
          </a:xfrm>
          <a:prstGeom prst="rect">
            <a:avLst/>
          </a:prstGeom>
          <a:solidFill>
            <a:srgbClr val="F7F7F7"/>
          </a:solidFill>
          <a:ln/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73368" y="3090672"/>
            <a:ext cx="329184" cy="329184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6373368" y="352044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Technical Champions</a:t>
            </a:r>
            <a:endParaRPr lang="en-US" sz="1500" dirty="0"/>
          </a:p>
        </p:txBody>
      </p:sp>
      <p:sp>
        <p:nvSpPr>
          <p:cNvPr id="20" name="Text 14"/>
          <p:cNvSpPr/>
          <p:nvPr/>
        </p:nvSpPr>
        <p:spPr>
          <a:xfrm>
            <a:off x="6373368" y="393192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Help build. Learn agent basics.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Support pilots.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64592"/>
            <a:ext cx="1691640" cy="18288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594360"/>
            <a:ext cx="1097280" cy="0"/>
          </a:xfrm>
          <a:prstGeom prst="line">
            <a:avLst/>
          </a:prstGeom>
          <a:noFill/>
          <a:ln w="25400">
            <a:solidFill>
              <a:srgbClr val="93CCEA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411480" y="822960"/>
            <a:ext cx="5303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Three asks</a:t>
            </a:r>
            <a:pPr indent="0" marL="0">
              <a:buNone/>
            </a:pPr>
            <a:r>
              <a:rPr lang="en-US" sz="5800" b="1" dirty="0">
                <a:solidFill>
                  <a:srgbClr val="93CCE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.</a:t>
            </a:r>
            <a:endParaRPr lang="en-US" sz="5800" dirty="0"/>
          </a:p>
        </p:txBody>
      </p:sp>
      <p:sp>
        <p:nvSpPr>
          <p:cNvPr id="5" name="Shape 2"/>
          <p:cNvSpPr/>
          <p:nvPr/>
        </p:nvSpPr>
        <p:spPr>
          <a:xfrm>
            <a:off x="411480" y="2331720"/>
            <a:ext cx="402336" cy="402336"/>
          </a:xfrm>
          <a:prstGeom prst="ellipse">
            <a:avLst/>
          </a:prstGeom>
          <a:solidFill>
            <a:srgbClr val="93CCEA"/>
          </a:solidFill>
          <a:ln/>
        </p:spPr>
      </p:sp>
      <p:sp>
        <p:nvSpPr>
          <p:cNvPr id="6" name="Text 3"/>
          <p:cNvSpPr/>
          <p:nvPr/>
        </p:nvSpPr>
        <p:spPr>
          <a:xfrm>
            <a:off x="411480" y="23317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960120" y="2359152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Nominate a use case from your project. One real pain point that AI could address.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411480" y="3108960"/>
            <a:ext cx="402336" cy="402336"/>
          </a:xfrm>
          <a:prstGeom prst="ellipse">
            <a:avLst/>
          </a:prstGeom>
          <a:solidFill>
            <a:srgbClr val="93CCEA"/>
          </a:solidFill>
          <a:ln/>
        </p:spPr>
      </p:sp>
      <p:sp>
        <p:nvSpPr>
          <p:cNvPr id="9" name="Text 6"/>
          <p:cNvSpPr/>
          <p:nvPr/>
        </p:nvSpPr>
        <p:spPr>
          <a:xfrm>
            <a:off x="411480" y="31089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960120" y="3136392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Connect us with one client who would benefit from an AI Value Sprint.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411480" y="3886200"/>
            <a:ext cx="402336" cy="402336"/>
          </a:xfrm>
          <a:prstGeom prst="ellipse">
            <a:avLst/>
          </a:prstGeom>
          <a:solidFill>
            <a:srgbClr val="93CCEA"/>
          </a:solidFill>
          <a:ln/>
        </p:spPr>
      </p:sp>
      <p:sp>
        <p:nvSpPr>
          <p:cNvPr id="12" name="Text 9"/>
          <p:cNvSpPr/>
          <p:nvPr/>
        </p:nvSpPr>
        <p:spPr>
          <a:xfrm>
            <a:off x="411480" y="38862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960120" y="3913632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Join AI Allies — or nominate someone from your team who should.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6035040" y="777240"/>
            <a:ext cx="2788920" cy="4005072"/>
          </a:xfrm>
          <a:prstGeom prst="rect">
            <a:avLst/>
          </a:prstGeom>
          <a:solidFill>
            <a:srgbClr val="3A3A3A"/>
          </a:solidFill>
          <a:ln/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6035040" y="777240"/>
            <a:ext cx="2788920" cy="45720"/>
          </a:xfrm>
          <a:prstGeom prst="rect">
            <a:avLst/>
          </a:prstGeom>
          <a:solidFill>
            <a:srgbClr val="93CCEA"/>
          </a:solidFill>
          <a:ln/>
        </p:spPr>
      </p:sp>
      <p:sp>
        <p:nvSpPr>
          <p:cNvPr id="16" name="Text 13"/>
          <p:cNvSpPr/>
          <p:nvPr/>
        </p:nvSpPr>
        <p:spPr>
          <a:xfrm>
            <a:off x="6199632" y="91440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3CC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 KPIs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6199632" y="146304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2–4</a:t>
            </a:r>
            <a:endParaRPr lang="en-US" sz="3000" dirty="0"/>
          </a:p>
        </p:txBody>
      </p:sp>
      <p:sp>
        <p:nvSpPr>
          <p:cNvPr id="18" name="Text 15"/>
          <p:cNvSpPr/>
          <p:nvPr/>
        </p:nvSpPr>
        <p:spPr>
          <a:xfrm>
            <a:off x="6199632" y="1901952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Paid pilots per region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6199632" y="2231136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30–50%</a:t>
            </a:r>
            <a:endParaRPr lang="en-US" sz="3000" dirty="0"/>
          </a:p>
        </p:txBody>
      </p:sp>
      <p:sp>
        <p:nvSpPr>
          <p:cNvPr id="20" name="Text 17"/>
          <p:cNvSpPr/>
          <p:nvPr/>
        </p:nvSpPr>
        <p:spPr>
          <a:xfrm>
            <a:off x="6199632" y="2670048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Faster proposal drafts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6199632" y="299923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5</a:t>
            </a:r>
            <a:endParaRPr lang="en-US" sz="3000" dirty="0"/>
          </a:p>
        </p:txBody>
      </p:sp>
      <p:sp>
        <p:nvSpPr>
          <p:cNvPr id="22" name="Text 19"/>
          <p:cNvSpPr/>
          <p:nvPr/>
        </p:nvSpPr>
        <p:spPr>
          <a:xfrm>
            <a:off x="6199632" y="3438144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KPIs tracked (no more)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6199632" y="3767328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3000" dirty="0"/>
          </a:p>
        </p:txBody>
      </p:sp>
      <p:sp>
        <p:nvSpPr>
          <p:cNvPr id="24" name="Text 21"/>
          <p:cNvSpPr/>
          <p:nvPr/>
        </p:nvSpPr>
        <p:spPr>
          <a:xfrm>
            <a:off x="6199632" y="420624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Starter Kit reused in every sprint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0" y="4919472"/>
            <a:ext cx="9144000" cy="0"/>
          </a:xfrm>
          <a:prstGeom prst="line">
            <a:avLst/>
          </a:prstGeom>
          <a:noFill/>
          <a:ln w="25400">
            <a:solidFill>
              <a:srgbClr val="93CCEA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0" y="481888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Westernacher  ·  India  ·  Middle East  ·  APAC  ·  2026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Westernacher AI Council — Regional Summit 2026</dc:title>
  <dc:subject>PptxGenJS Presentation</dc:subject>
  <dc:creator>Westernacher AI Council</dc:creator>
  <cp:lastModifiedBy>Westernacher AI Council</cp:lastModifiedBy>
  <cp:revision>1</cp:revision>
  <dcterms:created xsi:type="dcterms:W3CDTF">2026-03-22T19:59:27Z</dcterms:created>
  <dcterms:modified xsi:type="dcterms:W3CDTF">2026-03-22T19:59:27Z</dcterms:modified>
</cp:coreProperties>
</file>