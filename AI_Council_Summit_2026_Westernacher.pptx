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bindx-consulting.github.io/westernacher-ai-regional-meeting/wepulse.html" TargetMode="External"/><Relationship Id="rId3" Type="http://schemas.openxmlformats.org/officeDocument/2006/relationships/hyperlink" Target="https://bindx-consulting.github.io/westernacher-ai-regional-meeting/wepulse.html" TargetMode="External"/><Relationship Id="rId1" Type="http://schemas.openxmlformats.org/officeDocument/2006/relationships/image" Target="../media/image-8-1.png"/><Relationship Id="rId4" Type="http://schemas.openxmlformats.org/officeDocument/2006/relationships/image" Target="../media/image-8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bindx-consulting.github.io/westernacher-ai-regional-meeting/westernacher_ai_desk.html" TargetMode="External"/><Relationship Id="rId3" Type="http://schemas.openxmlformats.org/officeDocument/2006/relationships/hyperlink" Target="https://bindx-consulting.github.io/westernacher-ai-regional-meeting/westernacher_ai_desk.html" TargetMode="External"/><Relationship Id="rId1" Type="http://schemas.openxmlformats.org/officeDocument/2006/relationships/image" Target="../media/image-9-1.png"/><Relationship Id="rId4" Type="http://schemas.openxmlformats.org/officeDocument/2006/relationships/image" Target="../media/image-9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4592"/>
            <a:ext cx="1691640" cy="182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94360"/>
            <a:ext cx="1097280" cy="0"/>
          </a:xfrm>
          <a:prstGeom prst="line">
            <a:avLst/>
          </a:prstGeom>
          <a:noFill/>
          <a:ln w="25400">
            <a:solidFill>
              <a:srgbClr val="93CCE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00584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Council</a:t>
            </a:r>
            <a:pPr indent="0" marL="0">
              <a:buNone/>
            </a:pPr>
            <a:r>
              <a:rPr lang="en-US" sz="7200" b="1" dirty="0">
                <a:solidFill>
                  <a:srgbClr val="93CC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411480" y="2651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Summit  2026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11480" y="32004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curiosity to consulting multiplier.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943600" y="4663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</a:rPr>
              <a:t>India  ·  Middle East  ·  Asia Pacific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38100">
            <a:solidFill>
              <a:srgbClr val="93CCE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4592"/>
            <a:ext cx="1691640" cy="182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94360"/>
            <a:ext cx="1097280" cy="0"/>
          </a:xfrm>
          <a:prstGeom prst="line">
            <a:avLst/>
          </a:prstGeom>
          <a:noFill/>
          <a:ln w="25400">
            <a:solidFill>
              <a:srgbClr val="93CCE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7772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Minutes. Three Acts</a:t>
            </a:r>
            <a:pPr indent="0" marL="0">
              <a:buNone/>
            </a:pPr>
            <a:r>
              <a:rPr lang="en-US" sz="4200" b="1" dirty="0">
                <a:solidFill>
                  <a:srgbClr val="93CC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411480" y="1828800"/>
            <a:ext cx="2697480" cy="283464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19659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pPr indent="0" marL="0">
              <a:buNone/>
            </a:pPr>
            <a:r>
              <a:rPr lang="en-US" sz="3200" b="1" dirty="0">
                <a:solidFill>
                  <a:srgbClr val="93CC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9436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Strategy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94360" y="318211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Mission, model &amp; what 2026 is really about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" y="4224528"/>
            <a:ext cx="868680" cy="256032"/>
          </a:xfrm>
          <a:prstGeom prst="rect">
            <a:avLst/>
          </a:prstGeom>
          <a:solidFill>
            <a:srgbClr val="93CCEA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42245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~8 min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1828800"/>
            <a:ext cx="2697480" cy="283464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74720" y="19659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pPr indent="0" marL="0">
              <a:buNone/>
            </a:pPr>
            <a:r>
              <a:rPr lang="en-US" sz="3200" b="1" dirty="0">
                <a:solidFill>
                  <a:srgbClr val="93CC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347472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#1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474720" y="318211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 built by our team — watch it work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474720" y="4224528"/>
            <a:ext cx="868680" cy="256032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6" name="Text 13"/>
          <p:cNvSpPr/>
          <p:nvPr/>
        </p:nvSpPr>
        <p:spPr>
          <a:xfrm>
            <a:off x="3474720" y="42245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</a:rPr>
              <a:t>~8 min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72200" y="1828800"/>
            <a:ext cx="2697480" cy="283464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355080" y="19659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pPr indent="0" marL="0">
              <a:buNone/>
            </a:pPr>
            <a:r>
              <a:rPr lang="en-US" sz="3200" b="1" dirty="0">
                <a:solidFill>
                  <a:srgbClr val="93CC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635508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#2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355080" y="318211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prototype — different use case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355080" y="4224528"/>
            <a:ext cx="868680" cy="256032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2" name="Text 19"/>
          <p:cNvSpPr/>
          <p:nvPr/>
        </p:nvSpPr>
        <p:spPr>
          <a:xfrm>
            <a:off x="6355080" y="42245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</a:rPr>
              <a:t>~8 min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1148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</a:rPr>
              <a:t>Plus: what we need from you before we close.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4592"/>
            <a:ext cx="1691640" cy="182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94360"/>
            <a:ext cx="1097280" cy="0"/>
          </a:xfrm>
          <a:prstGeom prst="line">
            <a:avLst/>
          </a:prstGeom>
          <a:noFill/>
          <a:ln w="25400">
            <a:solidFill>
              <a:srgbClr val="93CCE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8229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moment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we're in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11480" y="26060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won't replace consultants.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11480" y="32004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3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Consultants using AI will replace those who don't</a:t>
            </a:r>
            <a:pPr indent="0" marL="0">
              <a:buNone/>
            </a:pPr>
            <a:r>
              <a:rPr lang="en-US" sz="2200" i="1" dirty="0">
                <a:solidFill>
                  <a:srgbClr val="93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760720" y="731520"/>
            <a:ext cx="0" cy="402336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0" y="9144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tinkering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35040" y="1316736"/>
            <a:ext cx="731520" cy="0"/>
          </a:xfrm>
          <a:prstGeom prst="line">
            <a:avLst/>
          </a:prstGeom>
          <a:noFill/>
          <a:ln w="25400">
            <a:solidFill>
              <a:srgbClr val="93CC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5040" y="1463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tools &amp; reuse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35040" y="22860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AI visions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35040" y="2688336"/>
            <a:ext cx="731520" cy="0"/>
          </a:xfrm>
          <a:prstGeom prst="line">
            <a:avLst/>
          </a:prstGeom>
          <a:noFill/>
          <a:ln w="25400">
            <a:solidFill>
              <a:srgbClr val="93CC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2834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repeatable wins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035040" y="3657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will figure it out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35040" y="4059936"/>
            <a:ext cx="731520" cy="0"/>
          </a:xfrm>
          <a:prstGeom prst="line">
            <a:avLst/>
          </a:prstGeom>
          <a:noFill/>
          <a:ln w="25400">
            <a:solidFill>
              <a:srgbClr val="93CC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0" y="4206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play with it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11480" y="4645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8A"/>
                </a:solidFill>
              </a:rPr>
              <a:t>Our job: make Westernacher the firm that leads this shift.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4592"/>
            <a:ext cx="1691640" cy="182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94360"/>
            <a:ext cx="1097280" cy="0"/>
          </a:xfrm>
          <a:prstGeom prst="line">
            <a:avLst/>
          </a:prstGeom>
          <a:noFill/>
          <a:ln w="25400">
            <a:solidFill>
              <a:srgbClr val="93CCE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7772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AI Council</a:t>
            </a:r>
            <a:pPr indent="0" marL="0">
              <a:buNone/>
            </a:pPr>
            <a:r>
              <a:rPr lang="en-US" sz="4000" b="1" dirty="0">
                <a:solidFill>
                  <a:srgbClr val="93CC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11480" y="1508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is. What it isn't.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11480" y="2057400"/>
            <a:ext cx="8321040" cy="65836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" name="Shape 4"/>
          <p:cNvSpPr/>
          <p:nvPr/>
        </p:nvSpPr>
        <p:spPr>
          <a:xfrm>
            <a:off x="411480" y="2057400"/>
            <a:ext cx="54864" cy="658368"/>
          </a:xfrm>
          <a:prstGeom prst="rect">
            <a:avLst/>
          </a:prstGeom>
          <a:solidFill>
            <a:srgbClr val="93CCEA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10312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Mission: Deliver measurable profitability and operational improvements using AI — aligned to Westernacher's SAP + Supply Chain + Process strengths.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2926080"/>
            <a:ext cx="2697480" cy="192024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306324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2648" y="34930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Factory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12648" y="39319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Sellable offers, paid pilots,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velocity.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free PoCs.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91840" y="2926080"/>
            <a:ext cx="2697480" cy="192024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3063240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93008" y="34930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Factory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493008" y="39319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accelerators, reuse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assets, delivery playbooks.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hours, better outcomes.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172200" y="2926080"/>
            <a:ext cx="2697480" cy="192024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3063240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73368" y="34930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Allies Network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6373368" y="39319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Cross-org community.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Funnels real use cases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both factories.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11480" y="48463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If AI does not improve revenue, margin, or speed — we stop it.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4592"/>
            <a:ext cx="1691640" cy="182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94360"/>
            <a:ext cx="1097280" cy="0"/>
          </a:xfrm>
          <a:prstGeom prst="line">
            <a:avLst/>
          </a:prstGeom>
          <a:noFill/>
          <a:ln w="25400">
            <a:solidFill>
              <a:srgbClr val="93CCE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 Roadmap</a:t>
            </a:r>
            <a:pPr indent="0" marL="0">
              <a:buNone/>
            </a:pPr>
            <a:r>
              <a:rPr lang="en-US" sz="4000" b="1" dirty="0">
                <a:solidFill>
                  <a:srgbClr val="93CC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11480" y="14630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 →  Monetize  →  Scale  →  Standardize.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85800" y="2487168"/>
            <a:ext cx="7772400" cy="0"/>
          </a:xfrm>
          <a:prstGeom prst="line">
            <a:avLst/>
          </a:prstGeom>
          <a:noFill/>
          <a:ln w="25400">
            <a:solidFill>
              <a:srgbClr val="E8E8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69848" y="2258568"/>
            <a:ext cx="457200" cy="457200"/>
          </a:xfrm>
          <a:prstGeom prst="ellipse">
            <a:avLst/>
          </a:prstGeom>
          <a:solidFill>
            <a:srgbClr val="93CCEA"/>
          </a:solidFill>
          <a:ln/>
        </p:spPr>
      </p:sp>
      <p:sp>
        <p:nvSpPr>
          <p:cNvPr id="8" name="Text 5"/>
          <p:cNvSpPr/>
          <p:nvPr/>
        </p:nvSpPr>
        <p:spPr>
          <a:xfrm>
            <a:off x="1069848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788920"/>
            <a:ext cx="2011680" cy="210312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" y="2788920"/>
            <a:ext cx="2011680" cy="45720"/>
          </a:xfrm>
          <a:prstGeom prst="rect">
            <a:avLst/>
          </a:prstGeom>
          <a:solidFill>
            <a:srgbClr val="93CCEA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9077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333756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3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literacy rollout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0080" y="370332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3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Accelerator v1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40080" y="406908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3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demos ready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0080" y="443484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3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accounts briefed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18688" y="2258568"/>
            <a:ext cx="457200" cy="457200"/>
          </a:xfrm>
          <a:prstGeom prst="ellipse">
            <a:avLst/>
          </a:prstGeom>
          <a:solidFill>
            <a:srgbClr val="E8E8E8"/>
          </a:solidFill>
          <a:ln/>
        </p:spPr>
      </p:sp>
      <p:sp>
        <p:nvSpPr>
          <p:cNvPr id="17" name="Text 14"/>
          <p:cNvSpPr/>
          <p:nvPr/>
        </p:nvSpPr>
        <p:spPr>
          <a:xfrm>
            <a:off x="3218688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Q2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651760" y="2788920"/>
            <a:ext cx="2011680" cy="21031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2788920" y="29077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788920" y="333756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3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AI Value Sprints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788920" y="370332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3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paid pilots signed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788920" y="406908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3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Asset Library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367528" y="2258568"/>
            <a:ext cx="457200" cy="457200"/>
          </a:xfrm>
          <a:prstGeom prst="ellipse">
            <a:avLst/>
          </a:prstGeom>
          <a:solidFill>
            <a:srgbClr val="E8E8E8"/>
          </a:solidFill>
          <a:ln/>
        </p:spPr>
      </p:sp>
      <p:sp>
        <p:nvSpPr>
          <p:cNvPr id="24" name="Text 21"/>
          <p:cNvSpPr/>
          <p:nvPr/>
        </p:nvSpPr>
        <p:spPr>
          <a:xfrm>
            <a:off x="5367528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Q3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800600" y="2788920"/>
            <a:ext cx="2011680" cy="21031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937760" y="29077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937760" y="333756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3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Productize top 2 wins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937760" y="370332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3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kits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937760" y="406908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3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Time-to-Value packages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16368" y="2258568"/>
            <a:ext cx="457200" cy="457200"/>
          </a:xfrm>
          <a:prstGeom prst="ellipse">
            <a:avLst/>
          </a:prstGeom>
          <a:solidFill>
            <a:srgbClr val="E8E8E8"/>
          </a:solidFill>
          <a:ln/>
        </p:spPr>
      </p:sp>
      <p:sp>
        <p:nvSpPr>
          <p:cNvPr id="31" name="Text 28"/>
          <p:cNvSpPr/>
          <p:nvPr/>
        </p:nvSpPr>
        <p:spPr>
          <a:xfrm>
            <a:off x="7516368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Q4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949440" y="2788920"/>
            <a:ext cx="2011680" cy="21031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7086600" y="29077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7086600" y="333756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3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v1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7086600" y="370332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3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pipeline locked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7086600" y="406908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3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Council as factory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02920" y="1783080"/>
            <a:ext cx="1554480" cy="292608"/>
          </a:xfrm>
          <a:prstGeom prst="rect">
            <a:avLst/>
          </a:prstGeom>
          <a:solidFill>
            <a:srgbClr val="93CCEA"/>
          </a:solidFill>
          <a:ln/>
        </p:spPr>
      </p:sp>
      <p:sp>
        <p:nvSpPr>
          <p:cNvPr id="38" name="Text 35"/>
          <p:cNvSpPr/>
          <p:nvPr/>
        </p:nvSpPr>
        <p:spPr>
          <a:xfrm>
            <a:off x="502920" y="17830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</a:rPr>
              <a:t>▼  We are here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4592"/>
            <a:ext cx="1691640" cy="182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94360"/>
            <a:ext cx="1097280" cy="0"/>
          </a:xfrm>
          <a:prstGeom prst="line">
            <a:avLst/>
          </a:prstGeom>
          <a:noFill/>
          <a:ln w="25400">
            <a:solidFill>
              <a:srgbClr val="93CCE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shipped in Q1</a:t>
            </a:r>
            <a:pPr indent="0" marL="0">
              <a:buNone/>
            </a:pPr>
            <a:r>
              <a:rPr lang="en-US" sz="3800" b="1" dirty="0">
                <a:solidFill>
                  <a:srgbClr val="93CC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411480" y="1600200"/>
            <a:ext cx="2697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1600200"/>
            <a:ext cx="45720" cy="1417320"/>
          </a:xfrm>
          <a:prstGeom prst="rect">
            <a:avLst/>
          </a:prstGeom>
          <a:solidFill>
            <a:srgbClr val="93CCE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76479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737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Literacy Launched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76072" y="21488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AI 101 + prompting basics rolled out across consultant and sales tracks.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1600200"/>
            <a:ext cx="2697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91840" y="1600200"/>
            <a:ext cx="45720" cy="1417320"/>
          </a:xfrm>
          <a:prstGeom prst="rect">
            <a:avLst/>
          </a:prstGeom>
          <a:solidFill>
            <a:srgbClr val="93CCE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432" y="176479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40480" y="1737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Starter Kit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456432" y="21488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web UI + RAG agent base — used in every demo and sprint.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172200" y="1600200"/>
            <a:ext cx="2697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172200" y="1600200"/>
            <a:ext cx="45720" cy="1417320"/>
          </a:xfrm>
          <a:prstGeom prst="rect">
            <a:avLst/>
          </a:prstGeom>
          <a:solidFill>
            <a:srgbClr val="93CCE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176479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20840" y="1737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Value Sprint SOW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336792" y="21488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2-week fixed-fee prototype → paid pilot model. Ready to sell.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11480" y="3172968"/>
            <a:ext cx="2697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11480" y="3172968"/>
            <a:ext cx="45720" cy="1417320"/>
          </a:xfrm>
          <a:prstGeom prst="rect">
            <a:avLst/>
          </a:prstGeom>
          <a:solidFill>
            <a:srgbClr val="93CCE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33756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0120" y="33101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Demo Solutions Built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576072" y="372160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prototypes you'll see today. Built from scratch on real use cases.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291840" y="3172968"/>
            <a:ext cx="2697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3291840" y="3172968"/>
            <a:ext cx="45720" cy="1417320"/>
          </a:xfrm>
          <a:prstGeom prst="rect">
            <a:avLst/>
          </a:prstGeom>
          <a:solidFill>
            <a:srgbClr val="93CCEA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6432" y="3337560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840480" y="33101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Allies Network Live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3456432" y="372160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Cross-org community active across India, ME and APAC regions.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6172200" y="3172968"/>
            <a:ext cx="26974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172200" y="3172968"/>
            <a:ext cx="45720" cy="1417320"/>
          </a:xfrm>
          <a:prstGeom prst="rect">
            <a:avLst/>
          </a:prstGeom>
          <a:solidFill>
            <a:srgbClr val="93CCEA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6792" y="3337560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720840" y="33101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Accounts Briefed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6336792" y="372160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+ domain leads running AI discovery sessions with target accounts.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4592"/>
            <a:ext cx="1691640" cy="182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94360"/>
            <a:ext cx="1097280" cy="0"/>
          </a:xfrm>
          <a:prstGeom prst="line">
            <a:avLst/>
          </a:prstGeom>
          <a:noFill/>
          <a:ln w="25400">
            <a:solidFill>
              <a:srgbClr val="93CCE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lanes. All SAP-aligned</a:t>
            </a:r>
            <a:pPr indent="0" marL="0">
              <a:buNone/>
            </a:pPr>
            <a:r>
              <a:rPr lang="en-US" sz="3800" b="1" dirty="0">
                <a:solidFill>
                  <a:srgbClr val="93CC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11480" y="148132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do generic AI. Every offering anchors to Westernacher's core: SAP, supply chain, process transformation.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11480" y="2011680"/>
            <a:ext cx="2697480" cy="2880360"/>
          </a:xfrm>
          <a:prstGeom prst="rect">
            <a:avLst/>
          </a:prstGeom>
          <a:solidFill>
            <a:srgbClr val="93CCE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148840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69848" y="212140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pPr indent="0" marL="0">
              <a:buNone/>
            </a:pPr>
            <a:r>
              <a:rPr lang="en-US" sz="2200" b="1" dirty="0">
                <a:solidFill>
                  <a:srgbClr val="93CC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12648" y="26060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&amp;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Support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12648" y="3319272"/>
            <a:ext cx="1234440" cy="237744"/>
          </a:xfrm>
          <a:prstGeom prst="rect">
            <a:avLst/>
          </a:prstGeom>
          <a:solidFill>
            <a:srgbClr val="93CCEA"/>
          </a:solidFill>
          <a:ln/>
        </p:spPr>
      </p:sp>
      <p:sp>
        <p:nvSpPr>
          <p:cNvPr id="11" name="Text 7"/>
          <p:cNvSpPr/>
          <p:nvPr/>
        </p:nvSpPr>
        <p:spPr>
          <a:xfrm>
            <a:off x="612648" y="331927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SAP IBP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12648" y="3703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planning insight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12648" y="4041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analysis &amp; simulation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12648" y="43799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handling automation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291840" y="2011680"/>
            <a:ext cx="2697480" cy="2880360"/>
          </a:xfrm>
          <a:prstGeom prst="rect">
            <a:avLst/>
          </a:prstGeom>
          <a:solidFill>
            <a:srgbClr val="CECAE5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214884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50208" y="212140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pPr indent="0" marL="0">
              <a:buNone/>
            </a:pPr>
            <a:r>
              <a:rPr lang="en-US" sz="2200" b="1" dirty="0">
                <a:solidFill>
                  <a:srgbClr val="93CC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3493008" y="26060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3493008" y="3319272"/>
            <a:ext cx="1234440" cy="237744"/>
          </a:xfrm>
          <a:prstGeom prst="rect">
            <a:avLst/>
          </a:prstGeom>
          <a:solidFill>
            <a:srgbClr val="93CCEA"/>
          </a:solidFill>
          <a:ln/>
        </p:spPr>
      </p:sp>
      <p:sp>
        <p:nvSpPr>
          <p:cNvPr id="20" name="Text 15"/>
          <p:cNvSpPr/>
          <p:nvPr/>
        </p:nvSpPr>
        <p:spPr>
          <a:xfrm>
            <a:off x="3493008" y="331927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SAP Signavio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3493008" y="3703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mining → recommendations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493008" y="4041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identification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493008" y="43799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remediation paths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172200" y="2011680"/>
            <a:ext cx="2697480" cy="288036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2148840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30568" y="212140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pPr indent="0" marL="0">
              <a:buNone/>
            </a:pPr>
            <a:r>
              <a:rPr lang="en-US" sz="2200" b="1" dirty="0">
                <a:solidFill>
                  <a:srgbClr val="93CC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6373368" y="26060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6373368" y="3319272"/>
            <a:ext cx="1234440" cy="237744"/>
          </a:xfrm>
          <a:prstGeom prst="rect">
            <a:avLst/>
          </a:prstGeom>
          <a:solidFill>
            <a:srgbClr val="93CCEA"/>
          </a:solidFill>
          <a:ln/>
        </p:spPr>
      </p:sp>
      <p:sp>
        <p:nvSpPr>
          <p:cNvPr id="29" name="Text 23"/>
          <p:cNvSpPr/>
          <p:nvPr/>
        </p:nvSpPr>
        <p:spPr>
          <a:xfrm>
            <a:off x="6373368" y="331927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Pre-sales + Delivery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6373368" y="3703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30–50% faster proposal drafts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373368" y="4041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 workshop agendas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373368" y="43799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 &amp; SOW acceleration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4592"/>
            <a:ext cx="1691640" cy="182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94360"/>
            <a:ext cx="731520" cy="0"/>
          </a:xfrm>
          <a:prstGeom prst="line">
            <a:avLst/>
          </a:prstGeom>
          <a:noFill/>
          <a:ln w="25400">
            <a:solidFill>
              <a:srgbClr val="93CCE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7772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93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 ·  01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11480" y="111556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Proposal Agent</a:t>
            </a:r>
            <a:pPr indent="0" marL="0">
              <a:buNone/>
            </a:pPr>
            <a:r>
              <a:rPr lang="en-US" sz="4000" b="1" dirty="0">
                <a:solidFill>
                  <a:srgbClr val="93CC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11480" y="193852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 Productivity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11480" y="2468880"/>
            <a:ext cx="5303520" cy="493776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2468880"/>
            <a:ext cx="36576" cy="493776"/>
          </a:xfrm>
          <a:prstGeom prst="rect">
            <a:avLst/>
          </a:prstGeom>
          <a:solidFill>
            <a:srgbClr val="93CCEA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249631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Paste a client brief — get a full SOW in 30 seconds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3035808"/>
            <a:ext cx="5303520" cy="49377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Shape 8"/>
          <p:cNvSpPr/>
          <p:nvPr/>
        </p:nvSpPr>
        <p:spPr>
          <a:xfrm>
            <a:off x="411480" y="3035808"/>
            <a:ext cx="36576" cy="493776"/>
          </a:xfrm>
          <a:prstGeom prst="rect">
            <a:avLst/>
          </a:prstGeom>
          <a:solidFill>
            <a:srgbClr val="93CCEA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" y="306324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Scope · Timeline · Value hypothesis · Risks — all structured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1480" y="3602736"/>
            <a:ext cx="5303520" cy="493776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4" name="Shape 11"/>
          <p:cNvSpPr/>
          <p:nvPr/>
        </p:nvSpPr>
        <p:spPr>
          <a:xfrm>
            <a:off x="411480" y="3602736"/>
            <a:ext cx="36576" cy="493776"/>
          </a:xfrm>
          <a:prstGeom prst="rect">
            <a:avLst/>
          </a:prstGeom>
          <a:solidFill>
            <a:srgbClr val="93CCEA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" y="363016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 Export directly to Word or PowerPoint with one click</a:t>
            </a:r>
            <a:endParaRPr lang="en-US" sz="1200" dirty="0"/>
          </a:p>
        </p:txBody>
      </p:sp>
      <p:sp>
        <p:nvSpPr>
          <p:cNvPr id="16" name="Shape 13">
            <a:hlinkClick r:id="rId2" tooltip=""/>
          </p:cNvPr>
          <p:cNvSpPr/>
          <p:nvPr/>
        </p:nvSpPr>
        <p:spPr>
          <a:xfrm>
            <a:off x="411480" y="4315968"/>
            <a:ext cx="2377440" cy="475488"/>
          </a:xfrm>
          <a:prstGeom prst="rect">
            <a:avLst/>
          </a:prstGeom>
          <a:solidFill>
            <a:srgbClr val="93CCEA"/>
          </a:solidFill>
          <a:ln/>
        </p:spPr>
      </p:sp>
      <p:sp>
        <p:nvSpPr>
          <p:cNvPr id="17" name="Text 14">
            <a:hlinkClick r:id="rId3" tooltip=""/>
          </p:cNvPr>
          <p:cNvSpPr/>
          <p:nvPr/>
        </p:nvSpPr>
        <p:spPr>
          <a:xfrm>
            <a:off x="411480" y="43159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 Launch Demo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907792" y="4370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open in browser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89320" y="685800"/>
            <a:ext cx="2834640" cy="43434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20" name="Shape 17"/>
          <p:cNvSpPr/>
          <p:nvPr/>
        </p:nvSpPr>
        <p:spPr>
          <a:xfrm>
            <a:off x="5989320" y="685800"/>
            <a:ext cx="2834640" cy="36576"/>
          </a:xfrm>
          <a:prstGeom prst="rect">
            <a:avLst/>
          </a:prstGeom>
          <a:solidFill>
            <a:srgbClr val="93CCEA"/>
          </a:solidFill>
          <a:ln/>
        </p:spPr>
      </p:sp>
      <p:sp>
        <p:nvSpPr>
          <p:cNvPr id="21" name="Text 18"/>
          <p:cNvSpPr/>
          <p:nvPr/>
        </p:nvSpPr>
        <p:spPr>
          <a:xfrm>
            <a:off x="6126480" y="822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93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TRY IT NOW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234440"/>
            <a:ext cx="2468880" cy="24688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126480" y="3767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bindx-consulting.github.io/westernacher-ai-regional-meeting/wepulse.html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126480" y="4114800"/>
            <a:ext cx="2468880" cy="6858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5" name="Text 21"/>
          <p:cNvSpPr/>
          <p:nvPr/>
        </p:nvSpPr>
        <p:spPr>
          <a:xfrm>
            <a:off x="6172200" y="4160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on your phone or laptop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Westernacher anything — watch it answer live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4592"/>
            <a:ext cx="1691640" cy="182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94360"/>
            <a:ext cx="731520" cy="0"/>
          </a:xfrm>
          <a:prstGeom prst="line">
            <a:avLst/>
          </a:prstGeom>
          <a:noFill/>
          <a:ln w="25400">
            <a:solidFill>
              <a:srgbClr val="93CCE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7772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93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 ·  02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11480" y="111556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Westernacher AI Desk</a:t>
            </a:r>
            <a:pPr indent="0" marL="0">
              <a:buNone/>
            </a:pPr>
            <a:r>
              <a:rPr lang="en-US" sz="3400" b="1" dirty="0">
                <a:solidFill>
                  <a:srgbClr val="93CC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11480" y="193852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3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anything. Get answers. Export instantly.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11480" y="2468880"/>
            <a:ext cx="5303520" cy="493776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2468880"/>
            <a:ext cx="36576" cy="493776"/>
          </a:xfrm>
          <a:prstGeom prst="rect">
            <a:avLst/>
          </a:prstGeom>
          <a:solidFill>
            <a:srgbClr val="93CCEA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249631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55+ years of Westernacher knowledge — clients, capabilities, wins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3035808"/>
            <a:ext cx="5303520" cy="49377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Shape 8"/>
          <p:cNvSpPr/>
          <p:nvPr/>
        </p:nvSpPr>
        <p:spPr>
          <a:xfrm>
            <a:off x="411480" y="3035808"/>
            <a:ext cx="36576" cy="493776"/>
          </a:xfrm>
          <a:prstGeom prst="rect">
            <a:avLst/>
          </a:prstGeom>
          <a:solidFill>
            <a:srgbClr val="93CCEA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" y="306324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Natural language Q&amp;A — grounded in real content, no hallucination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1480" y="3602736"/>
            <a:ext cx="5303520" cy="493776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4" name="Shape 11"/>
          <p:cNvSpPr/>
          <p:nvPr/>
        </p:nvSpPr>
        <p:spPr>
          <a:xfrm>
            <a:off x="411480" y="3602736"/>
            <a:ext cx="36576" cy="493776"/>
          </a:xfrm>
          <a:prstGeom prst="rect">
            <a:avLst/>
          </a:prstGeom>
          <a:solidFill>
            <a:srgbClr val="93CCEA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" y="363016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Any answer exported to Excel, Word, or PowerPoint in seconds</a:t>
            </a:r>
            <a:endParaRPr lang="en-US" sz="1200" dirty="0"/>
          </a:p>
        </p:txBody>
      </p:sp>
      <p:sp>
        <p:nvSpPr>
          <p:cNvPr id="16" name="Shape 13">
            <a:hlinkClick r:id="rId2" tooltip=""/>
          </p:cNvPr>
          <p:cNvSpPr/>
          <p:nvPr/>
        </p:nvSpPr>
        <p:spPr>
          <a:xfrm>
            <a:off x="411480" y="4315968"/>
            <a:ext cx="2377440" cy="475488"/>
          </a:xfrm>
          <a:prstGeom prst="rect">
            <a:avLst/>
          </a:prstGeom>
          <a:solidFill>
            <a:srgbClr val="93CCEA"/>
          </a:solidFill>
          <a:ln/>
        </p:spPr>
      </p:sp>
      <p:sp>
        <p:nvSpPr>
          <p:cNvPr id="17" name="Text 14">
            <a:hlinkClick r:id="rId3" tooltip=""/>
          </p:cNvPr>
          <p:cNvSpPr/>
          <p:nvPr/>
        </p:nvSpPr>
        <p:spPr>
          <a:xfrm>
            <a:off x="411480" y="43159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 Launch AI Desk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907792" y="4370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open in browser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89320" y="685800"/>
            <a:ext cx="2834640" cy="43434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20" name="Shape 17"/>
          <p:cNvSpPr/>
          <p:nvPr/>
        </p:nvSpPr>
        <p:spPr>
          <a:xfrm>
            <a:off x="5989320" y="685800"/>
            <a:ext cx="2834640" cy="36576"/>
          </a:xfrm>
          <a:prstGeom prst="rect">
            <a:avLst/>
          </a:prstGeom>
          <a:solidFill>
            <a:srgbClr val="93CCEA"/>
          </a:solidFill>
          <a:ln/>
        </p:spPr>
      </p:sp>
      <p:sp>
        <p:nvSpPr>
          <p:cNvPr id="21" name="Text 18"/>
          <p:cNvSpPr/>
          <p:nvPr/>
        </p:nvSpPr>
        <p:spPr>
          <a:xfrm>
            <a:off x="6126480" y="822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93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TRY IT NOW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234440"/>
            <a:ext cx="2468880" cy="24688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126480" y="3767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bindx-consulting.github.io/westernacher-ai-regional-meeting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126480" y="4114800"/>
            <a:ext cx="2468880" cy="6858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5" name="Text 21"/>
          <p:cNvSpPr/>
          <p:nvPr/>
        </p:nvSpPr>
        <p:spPr>
          <a:xfrm>
            <a:off x="6172200" y="4160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on your phone or laptop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Westernacher anything — watch it answer live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4592"/>
            <a:ext cx="1691640" cy="182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94360"/>
            <a:ext cx="1097280" cy="0"/>
          </a:xfrm>
          <a:prstGeom prst="line">
            <a:avLst/>
          </a:prstGeom>
          <a:noFill/>
          <a:ln w="25400">
            <a:solidFill>
              <a:srgbClr val="93CCE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Allies Network</a:t>
            </a:r>
            <a:pPr indent="0" marL="0">
              <a:buNone/>
            </a:pPr>
            <a:r>
              <a:rPr lang="en-US" sz="4000" b="1" dirty="0">
                <a:solidFill>
                  <a:srgbClr val="93CC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11480" y="14813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have to build — but you should contribute.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411480" y="2011680"/>
            <a:ext cx="8321040" cy="74980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" name="Shape 4"/>
          <p:cNvSpPr/>
          <p:nvPr/>
        </p:nvSpPr>
        <p:spPr>
          <a:xfrm>
            <a:off x="411480" y="2011680"/>
            <a:ext cx="45720" cy="749808"/>
          </a:xfrm>
          <a:prstGeom prst="rect">
            <a:avLst/>
          </a:prstGeom>
          <a:solidFill>
            <a:srgbClr val="93CCEA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" y="2075688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"Connect AI-curious and AI-skilled colleagues — foster a shared space to collect, exchange, and grow practical AI knowledge across the region."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2944368"/>
            <a:ext cx="2697480" cy="182880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3090672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2648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Promoters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12648" y="3931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real use cases on projects.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them to the council.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291840" y="2944368"/>
            <a:ext cx="2697480" cy="18288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3090672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93008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SMEs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493008" y="3931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prototypes.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demos business context.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172200" y="2944368"/>
            <a:ext cx="2697480" cy="18288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3090672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73368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Champions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6373368" y="3931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build. Learn agent basics.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pilots.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4592"/>
            <a:ext cx="1691640" cy="182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94360"/>
            <a:ext cx="1097280" cy="0"/>
          </a:xfrm>
          <a:prstGeom prst="line">
            <a:avLst/>
          </a:prstGeom>
          <a:noFill/>
          <a:ln w="25400">
            <a:solidFill>
              <a:srgbClr val="93CCE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82296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asks</a:t>
            </a:r>
            <a:pPr indent="0" marL="0">
              <a:buNone/>
            </a:pPr>
            <a:r>
              <a:rPr lang="en-US" sz="5800" b="1" dirty="0">
                <a:solidFill>
                  <a:srgbClr val="93CCE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5800" dirty="0"/>
          </a:p>
        </p:txBody>
      </p:sp>
      <p:sp>
        <p:nvSpPr>
          <p:cNvPr id="5" name="Shape 2"/>
          <p:cNvSpPr/>
          <p:nvPr/>
        </p:nvSpPr>
        <p:spPr>
          <a:xfrm>
            <a:off x="411480" y="2331720"/>
            <a:ext cx="402336" cy="402336"/>
          </a:xfrm>
          <a:prstGeom prst="ellipse">
            <a:avLst/>
          </a:prstGeom>
          <a:solidFill>
            <a:srgbClr val="93CCEA"/>
          </a:solidFill>
          <a:ln/>
        </p:spPr>
      </p:sp>
      <p:sp>
        <p:nvSpPr>
          <p:cNvPr id="6" name="Text 3"/>
          <p:cNvSpPr/>
          <p:nvPr/>
        </p:nvSpPr>
        <p:spPr>
          <a:xfrm>
            <a:off x="411480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60120" y="23591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Nominate a use case from your project. One real pain point that AI could address.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3108960"/>
            <a:ext cx="402336" cy="402336"/>
          </a:xfrm>
          <a:prstGeom prst="ellipse">
            <a:avLst/>
          </a:prstGeom>
          <a:solidFill>
            <a:srgbClr val="93CCEA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60120" y="313639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us with one client who would benefit from an AI Value Sprint.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11480" y="3886200"/>
            <a:ext cx="402336" cy="402336"/>
          </a:xfrm>
          <a:prstGeom prst="ellipse">
            <a:avLst/>
          </a:prstGeom>
          <a:solidFill>
            <a:srgbClr val="93CCEA"/>
          </a:solidFill>
          <a:ln/>
        </p:spPr>
      </p:sp>
      <p:sp>
        <p:nvSpPr>
          <p:cNvPr id="12" name="Text 9"/>
          <p:cNvSpPr/>
          <p:nvPr/>
        </p:nvSpPr>
        <p:spPr>
          <a:xfrm>
            <a:off x="411480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60120" y="39136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AI Allies — or nominate someone from your team who should.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035040" y="777240"/>
            <a:ext cx="2788920" cy="4005072"/>
          </a:xfrm>
          <a:prstGeom prst="rect">
            <a:avLst/>
          </a:prstGeom>
          <a:solidFill>
            <a:srgbClr val="3A3A3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35040" y="777240"/>
            <a:ext cx="2788920" cy="45720"/>
          </a:xfrm>
          <a:prstGeom prst="rect">
            <a:avLst/>
          </a:prstGeom>
          <a:solidFill>
            <a:srgbClr val="93CCEA"/>
          </a:solidFill>
          <a:ln/>
        </p:spPr>
      </p:sp>
      <p:sp>
        <p:nvSpPr>
          <p:cNvPr id="16" name="Text 13"/>
          <p:cNvSpPr/>
          <p:nvPr/>
        </p:nvSpPr>
        <p:spPr>
          <a:xfrm>
            <a:off x="6199632" y="914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KPIs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199632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2–4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199632" y="19019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pilots per region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99632" y="223113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30–50%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199632" y="26700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proposal drafts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99632" y="29992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6199632" y="34381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tracked (no more)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199632" y="37673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6199632" y="4206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Kit reused in every sprint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0" y="4919472"/>
            <a:ext cx="9144000" cy="0"/>
          </a:xfrm>
          <a:prstGeom prst="line">
            <a:avLst/>
          </a:prstGeom>
          <a:noFill/>
          <a:ln w="25400">
            <a:solidFill>
              <a:srgbClr val="93CC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0" y="48188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Westernacher  ·  India  ·  Middle East  ·  APAC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Westernacher AI Council — Regional Summit 2026</dc:title>
  <dc:subject>PptxGenJS Presentation</dc:subject>
  <dc:creator>Westernacher AI Council</dc:creator>
  <cp:lastModifiedBy>Westernacher AI Council</cp:lastModifiedBy>
  <cp:revision>1</cp:revision>
  <dcterms:created xsi:type="dcterms:W3CDTF">2026-03-22T20:10:42Z</dcterms:created>
  <dcterms:modified xsi:type="dcterms:W3CDTF">2026-03-22T20:10:42Z</dcterms:modified>
</cp:coreProperties>
</file>